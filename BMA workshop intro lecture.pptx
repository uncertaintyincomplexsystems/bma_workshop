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3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5" r:id="rId19"/>
    <p:sldId id="276" r:id="rId20"/>
    <p:sldId id="277" r:id="rId21"/>
    <p:sldId id="278" r:id="rId22"/>
    <p:sldId id="279" r:id="rId2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409" autoAdjust="0"/>
  </p:normalViewPr>
  <p:slideViewPr>
    <p:cSldViewPr snapToGrid="0">
      <p:cViewPr varScale="1">
        <p:scale>
          <a:sx n="93" d="100"/>
          <a:sy n="93" d="100"/>
        </p:scale>
        <p:origin x="11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84C46-5321-454E-A363-77D6A1FA2703}" type="datetimeFigureOut">
              <a:rPr lang="nl-NL" smtClean="0"/>
              <a:t>11-6-2026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A7303-E99A-46AD-9328-5CDE00ABEAA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6832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Follows from the Law of Total Probability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A7303-E99A-46AD-9328-5CDE00ABEAA6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97935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EC475-6C6A-6B68-68D3-671CA846E4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4C8BAF-8747-2BFA-BCFB-A9CC898799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AB95C-C6EB-CA2E-38B7-8249FE487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48AC7-D1F4-4DBB-970A-CF4D2A4E5857}" type="datetimeFigureOut">
              <a:rPr lang="nl-NL" smtClean="0"/>
              <a:t>11-6-2026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D5949-5235-64C8-5C6F-D2E283E64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6D8BD-F1C3-35A3-5AD1-CA46334B7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08FC-E505-46BB-98EF-158A0C71FC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39307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89788-A3CC-E274-9D66-689455FB9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5DC98-A6E3-8B17-D4DE-F0DED5ED2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2B16C-B81F-3636-35C9-B7F40228B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48AC7-D1F4-4DBB-970A-CF4D2A4E5857}" type="datetimeFigureOut">
              <a:rPr lang="nl-NL" smtClean="0"/>
              <a:t>11-6-2026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F9DDA-FF10-FF68-14A8-79FFE9287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8B99C-BD8A-662D-1054-032F6119F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08FC-E505-46BB-98EF-158A0C71FC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074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2DEDF-5F45-118D-AEDC-E70BDD52E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B2DC4-84EE-16B4-DDC0-A3F17AAB1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B3E1D-DFD4-CF6D-971A-D6E4EB46C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48AC7-D1F4-4DBB-970A-CF4D2A4E5857}" type="datetimeFigureOut">
              <a:rPr lang="nl-NL" smtClean="0"/>
              <a:t>11-6-2026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CFEBF-CB74-FD7F-6289-B34A9D453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B814D-D223-AF96-1E7E-C155B429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08FC-E505-46BB-98EF-158A0C71FC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70388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B0AF8-709D-4214-1719-1EDD23690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F8CEE-DAA7-7A69-05D8-692B24CA66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B3DF46-7A41-8E50-5B29-63C803B84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7E9E3-26CA-85AA-C688-6813A2F77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48AC7-D1F4-4DBB-970A-CF4D2A4E5857}" type="datetimeFigureOut">
              <a:rPr lang="nl-NL" smtClean="0"/>
              <a:t>11-6-2026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80E12-5BAA-7249-08A9-11BDA51D5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8CE0D-0514-DAA2-A5D9-8A20EBED9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08FC-E505-46BB-98EF-158A0C71FC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7727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A0236-392B-6F08-269B-3D27C6EA6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D4662-E511-A7B0-CCC9-DD78DE28B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FF6C3B-10E0-07E0-3583-72BFFF476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E88FED-8CB7-4F8A-9E66-6A66AC71ED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552846-EF7D-0997-0003-39F645DA16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02717D-0045-C677-A04E-6822F9980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48AC7-D1F4-4DBB-970A-CF4D2A4E5857}" type="datetimeFigureOut">
              <a:rPr lang="nl-NL" smtClean="0"/>
              <a:t>11-6-2026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4822A9-2195-F457-7E6E-03960B1CB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9CF535-C09B-E779-A9E0-7282734E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08FC-E505-46BB-98EF-158A0C71FC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1556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7E7F6-56A7-1144-2A04-4039F27C2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823AC4-FAC0-36B2-DB86-255F7EFD9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48AC7-D1F4-4DBB-970A-CF4D2A4E5857}" type="datetimeFigureOut">
              <a:rPr lang="nl-NL" smtClean="0"/>
              <a:t>11-6-2026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3CCCDA-6F9D-999D-B683-66C656EBD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C0D68-A1F2-F1A4-5F28-19DCDB530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08FC-E505-46BB-98EF-158A0C71FC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07183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DDD16F-3CFA-B37C-DBA2-6E44CFAEE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48AC7-D1F4-4DBB-970A-CF4D2A4E5857}" type="datetimeFigureOut">
              <a:rPr lang="nl-NL" smtClean="0"/>
              <a:t>11-6-2026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6B7427-75D5-45A4-7AC4-04E3B5D30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13EA-18DE-2FE4-C644-346E16EA7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08FC-E505-46BB-98EF-158A0C71FC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47497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6018-903F-1B31-2120-67D6C6EE8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7C716-4EBB-9B57-7EAD-4C4445F51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B31C71-3910-4B32-A666-854028022F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5644A-749F-83E3-6D13-C4A365584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48AC7-D1F4-4DBB-970A-CF4D2A4E5857}" type="datetimeFigureOut">
              <a:rPr lang="nl-NL" smtClean="0"/>
              <a:t>11-6-2026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FF222-719A-2B74-7A54-8BFAD96E8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46DB8-D38A-7E72-5955-8D5692643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08FC-E505-46BB-98EF-158A0C71FC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2708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B9451-192E-3DB0-6A3D-826BAD618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81E24-0723-93D6-854A-9D8835C2BC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D034D-3691-83EE-4F74-F785F2315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1305C-EC8D-7DB0-9BBA-68FDEEBD9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48AC7-D1F4-4DBB-970A-CF4D2A4E5857}" type="datetimeFigureOut">
              <a:rPr lang="nl-NL" smtClean="0"/>
              <a:t>11-6-2026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92FAB-371A-A289-ED64-4EA7A5D3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3C7CB-7819-DFAA-1221-F3E60B6B7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08FC-E505-46BB-98EF-158A0C71FC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92316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A2015-7663-BEB2-8000-C7E6B5EED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5FC4CF-71C8-C634-6B0D-F62164B20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D39A4-C3E8-2B99-A442-D9EC672AC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48AC7-D1F4-4DBB-970A-CF4D2A4E5857}" type="datetimeFigureOut">
              <a:rPr lang="nl-NL" smtClean="0"/>
              <a:t>11-6-2026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0743F-58A8-B893-CB33-90AE057F8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11B02-245B-DF16-B9B3-DD6DB4593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08FC-E505-46BB-98EF-158A0C71FC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9941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7660A2-6991-77D1-B743-4B09CD3939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5215A0-8D6D-3AE1-1960-AF5A023AF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5C481-72BD-21BF-04B7-47D7ED475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48AC7-D1F4-4DBB-970A-CF4D2A4E5857}" type="datetimeFigureOut">
              <a:rPr lang="nl-NL" smtClean="0"/>
              <a:t>11-6-2026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5CDC9-66E8-0DED-8D8A-58BEB82B7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F500C-DF73-F426-DA5C-5F17E988A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08FC-E505-46BB-98EF-158A0C71FC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12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3542AB-FBBA-CF2F-7EC3-367E351DE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50D35-6F2A-6700-CEB1-7B00BECA2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B5DD0-D984-0B98-E875-49653D67B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348AC7-D1F4-4DBB-970A-CF4D2A4E5857}" type="datetimeFigureOut">
              <a:rPr lang="nl-NL" smtClean="0"/>
              <a:t>11-6-2026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B4CCB-D18D-900D-6F66-9CA639CCF5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A11CB-48C6-F6A6-683C-8C3231984F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C08FC-E505-46BB-98EF-158A0C71FC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864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mhinne.github.io/uncertainty-in-complex-systems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5.png"/><Relationship Id="rId5" Type="http://schemas.openxmlformats.org/officeDocument/2006/relationships/image" Target="../media/image8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joss.theoj.org/papers/10.21105/joss.08642.pdf" TargetMode="External"/><Relationship Id="rId2" Type="http://schemas.openxmlformats.org/officeDocument/2006/relationships/hyperlink" Target="https://github.com/UncertaintyInComplexSystems/bamojax/blob/main/bamojax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hyperlink" Target="https://link.springer.com/article/10.3758/s13428-025-02642-1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FB5D3-4F79-2EBC-D52B-2C6A74AD87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Bayesian model averaging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D3E64-F5CD-6904-D3F1-B12EFEEF87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Python. And fast. With JAX.</a:t>
            </a:r>
          </a:p>
          <a:p>
            <a:endParaRPr lang="en-US" dirty="0"/>
          </a:p>
          <a:p>
            <a:r>
              <a:rPr lang="en-US" dirty="0"/>
              <a:t>Max Hinne</a:t>
            </a:r>
          </a:p>
          <a:p>
            <a:r>
              <a:rPr lang="en-US" dirty="0">
                <a:hlinkClick r:id="rId2"/>
              </a:rPr>
              <a:t>Uncertainty in Complex Systems</a:t>
            </a:r>
            <a:r>
              <a:rPr lang="en-US" dirty="0"/>
              <a:t> lab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45038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5D843-73AC-6594-5055-556784050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program for today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78660-E2E4-B831-F7B4-418D56726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11:15 – 12:15: Background lecture on Bayesian model averaging</a:t>
            </a:r>
          </a:p>
          <a:p>
            <a:r>
              <a:rPr lang="en-US" dirty="0"/>
              <a:t>12:15 – 13:00: Food!</a:t>
            </a:r>
          </a:p>
          <a:p>
            <a:r>
              <a:rPr lang="en-US" dirty="0"/>
              <a:t>13:00 – 15:30: Hands-on workshop</a:t>
            </a:r>
          </a:p>
          <a:p>
            <a:pPr lvl="1"/>
            <a:r>
              <a:rPr lang="en-US" dirty="0"/>
              <a:t>13:00 – 13:15: Short intro to materials (Python notebook, JAX)</a:t>
            </a:r>
          </a:p>
          <a:p>
            <a:pPr lvl="1"/>
            <a:r>
              <a:rPr lang="en-US" dirty="0"/>
              <a:t>13:15 – 14:00: Hands-on self-paced tutorial</a:t>
            </a:r>
          </a:p>
          <a:p>
            <a:pPr lvl="1"/>
            <a:r>
              <a:rPr lang="en-US" dirty="0"/>
              <a:t>14:00 – 14:15: Food! (well, coffee)</a:t>
            </a:r>
          </a:p>
          <a:p>
            <a:pPr lvl="1"/>
            <a:r>
              <a:rPr lang="en-US" dirty="0"/>
              <a:t>14:15 – 15:00: Hands-on self-paced tutorial</a:t>
            </a:r>
          </a:p>
          <a:p>
            <a:pPr lvl="1"/>
            <a:r>
              <a:rPr lang="en-US" dirty="0"/>
              <a:t>15:00 – 15:30: Wrap-up and Q&amp;A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06204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C9F81F-C6CD-8674-8FFD-52B3CF2F3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Part 1: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conceptual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08880CB-AFD4-E9AB-FD26-5D7A5C6C7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And</a:t>
            </a:r>
            <a:r>
              <a:rPr lang="nl-NL" dirty="0"/>
              <a:t> a </a:t>
            </a:r>
            <a:r>
              <a:rPr lang="nl-NL" dirty="0" err="1"/>
              <a:t>tiny</a:t>
            </a:r>
            <a:r>
              <a:rPr lang="nl-NL" dirty="0"/>
              <a:t> bit of </a:t>
            </a:r>
            <a:r>
              <a:rPr lang="nl-NL" dirty="0" err="1"/>
              <a:t>math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98691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0A5BB-21DA-E88B-2E6B-FA60D7AAB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Bayesian model averaging?</a:t>
            </a:r>
            <a:br>
              <a:rPr lang="en-US" dirty="0"/>
            </a:br>
            <a:r>
              <a:rPr lang="en-US" sz="3200" dirty="0"/>
              <a:t>(and why do we care?)</a:t>
            </a:r>
            <a:endParaRPr lang="nl-N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A53EB9-1576-391F-5A30-912004B3EC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793" y="1987550"/>
            <a:ext cx="6527007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3133C1-4047-DE1B-EE1B-D7F419BDB2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37" y="5112512"/>
            <a:ext cx="1865376" cy="13136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642ADA-A049-5AFC-467A-949717E670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0181" y="1566862"/>
            <a:ext cx="2886076" cy="14430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510668-C720-B97F-6273-D48983D2A1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225" y="4895253"/>
            <a:ext cx="2551938" cy="15309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D876B0-C749-634E-D42E-1C428C7EF9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14" y="2090960"/>
            <a:ext cx="2328672" cy="131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342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B0BAD-F8FF-4766-F834-65CA51379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51E8-064B-CD59-61F4-2BF3B3DFA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Bayesian model averaging?</a:t>
            </a:r>
            <a:br>
              <a:rPr lang="en-US" dirty="0"/>
            </a:br>
            <a:r>
              <a:rPr lang="en-US" sz="3200" dirty="0"/>
              <a:t>(and why do we care?)</a:t>
            </a:r>
            <a:endParaRPr lang="nl-N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3D5F4F-6882-D5ED-A97E-24CAEEE514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793" y="1987550"/>
            <a:ext cx="6527007" cy="43513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69B6D0-8650-1C16-49E6-C8F6FD89DE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76" y="1920618"/>
            <a:ext cx="2161443" cy="180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64D395-248B-8DA9-6C40-B94419BFD5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41" y="4828661"/>
            <a:ext cx="2161443" cy="180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C2B2773-9A2B-A5EB-9CE3-7BD43079DE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4218" y="4692875"/>
            <a:ext cx="2210235" cy="180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DA52270-CF9C-D791-A9C8-108A5E4D7F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6774" y="1265125"/>
            <a:ext cx="2210235" cy="18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781F2DF-C428-FD43-495B-F655C8A9E4C9}"/>
                  </a:ext>
                </a:extLst>
              </p:cNvPr>
              <p:cNvSpPr txBox="1"/>
              <p:nvPr/>
            </p:nvSpPr>
            <p:spPr>
              <a:xfrm>
                <a:off x="3707258" y="6338888"/>
                <a:ext cx="390321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delay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delay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scenario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nl-NL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781F2DF-C428-FD43-495B-F655C8A9E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258" y="6338888"/>
                <a:ext cx="3903217" cy="369332"/>
              </a:xfrm>
              <a:prstGeom prst="rect">
                <a:avLst/>
              </a:prstGeom>
              <a:blipFill>
                <a:blip r:embed="rId7"/>
                <a:stretch>
                  <a:fillRect t="-1667" b="-3333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427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EB44E-C54C-D2D2-ECBD-DDD138285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46F55-9935-A925-000C-71B7935C4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Bayesian model averaging?</a:t>
            </a:r>
            <a:br>
              <a:rPr lang="en-US" dirty="0"/>
            </a:br>
            <a:r>
              <a:rPr lang="en-US" sz="3200" dirty="0"/>
              <a:t>(and why do we care?)</a:t>
            </a:r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3E3B9C-DDAD-300F-C942-D339C004DF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76" y="1920618"/>
            <a:ext cx="2161443" cy="180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2505A0-ED99-C315-0802-27DDFE78E0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41" y="4828661"/>
            <a:ext cx="2161443" cy="180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31E66C-4BE3-C849-63A6-96DFBE28E6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4218" y="4692875"/>
            <a:ext cx="2210235" cy="180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57561E0-656F-634C-0A2C-6F043D5235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6774" y="1265125"/>
            <a:ext cx="2210235" cy="180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910433-BBF7-AECE-C024-2E90F8B360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528" y="2557061"/>
            <a:ext cx="3645415" cy="303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34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F1614-EA2F-FB64-4525-C85508062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2218-C9C7-2299-B354-86C6A7183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Bayesian model averaging?</a:t>
            </a:r>
            <a:br>
              <a:rPr lang="en-US" dirty="0"/>
            </a:br>
            <a:r>
              <a:rPr lang="en-US" sz="3200" dirty="0"/>
              <a:t>(and why do we care?)</a:t>
            </a:r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CBC87B-16D7-4D72-1405-4EC0FF51A8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76" y="1920618"/>
            <a:ext cx="2161443" cy="180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99E18E-F463-9C71-7EA1-3FD947C0A5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41" y="4828661"/>
            <a:ext cx="2161443" cy="180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E8331AA-3EA6-E209-B1E1-1F07AF28DA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4218" y="4692875"/>
            <a:ext cx="2210235" cy="180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BC65D7C-614E-7AC8-F1A8-36CDCF41A6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6774" y="1265125"/>
            <a:ext cx="2210235" cy="180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DAEB93-2D0F-50EF-547F-299DF8D2AC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528" y="2557061"/>
            <a:ext cx="3645415" cy="30358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6448B0-BBC6-E1DE-D0F9-D9BF4FD79209}"/>
                  </a:ext>
                </a:extLst>
              </p:cNvPr>
              <p:cNvSpPr txBox="1"/>
              <p:nvPr/>
            </p:nvSpPr>
            <p:spPr>
              <a:xfrm>
                <a:off x="5077238" y="5844540"/>
                <a:ext cx="2796022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sepChr m:val="∣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ℳ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ℳ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nl-NL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6448B0-BBC6-E1DE-D0F9-D9BF4FD79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238" y="5844540"/>
                <a:ext cx="2796022" cy="7789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A7668E-4BDB-174F-F3BE-96C302F07496}"/>
                  </a:ext>
                </a:extLst>
              </p:cNvPr>
              <p:cNvSpPr txBox="1"/>
              <p:nvPr/>
            </p:nvSpPr>
            <p:spPr>
              <a:xfrm>
                <a:off x="847681" y="3720618"/>
                <a:ext cx="10870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sepChr m:val="∣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ℳ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nl-NL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A7668E-4BDB-174F-F3BE-96C302F07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81" y="3720618"/>
                <a:ext cx="1087028" cy="276999"/>
              </a:xfrm>
              <a:prstGeom prst="rect">
                <a:avLst/>
              </a:prstGeom>
              <a:blipFill>
                <a:blip r:embed="rId9"/>
                <a:stretch>
                  <a:fillRect l="-5056" b="-2391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CFD4AA-526B-EB88-20A0-01F9DF9B0485}"/>
                  </a:ext>
                </a:extLst>
              </p:cNvPr>
              <p:cNvSpPr txBox="1"/>
              <p:nvPr/>
            </p:nvSpPr>
            <p:spPr>
              <a:xfrm>
                <a:off x="1028656" y="5903562"/>
                <a:ext cx="10923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sepChr m:val="∣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ℳ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nl-NL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CFD4AA-526B-EB88-20A0-01F9DF9B0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656" y="5903562"/>
                <a:ext cx="1092350" cy="276999"/>
              </a:xfrm>
              <a:prstGeom prst="rect">
                <a:avLst/>
              </a:prstGeom>
              <a:blipFill>
                <a:blip r:embed="rId10"/>
                <a:stretch>
                  <a:fillRect l="-5028" b="-2391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CAC594-30B7-A6E9-9DBF-549265683696}"/>
                  </a:ext>
                </a:extLst>
              </p:cNvPr>
              <p:cNvSpPr txBox="1"/>
              <p:nvPr/>
            </p:nvSpPr>
            <p:spPr>
              <a:xfrm>
                <a:off x="10086931" y="3065125"/>
                <a:ext cx="10870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sepChr m:val="∣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ℳ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nl-NL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CAC594-30B7-A6E9-9DBF-549265683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6931" y="3065125"/>
                <a:ext cx="1087028" cy="276999"/>
              </a:xfrm>
              <a:prstGeom prst="rect">
                <a:avLst/>
              </a:prstGeom>
              <a:blipFill>
                <a:blip r:embed="rId11"/>
                <a:stretch>
                  <a:fillRect l="-5618" b="-2666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917912-613C-93BB-A339-D2F73AFB0F40}"/>
                  </a:ext>
                </a:extLst>
              </p:cNvPr>
              <p:cNvSpPr txBox="1"/>
              <p:nvPr/>
            </p:nvSpPr>
            <p:spPr>
              <a:xfrm>
                <a:off x="10734631" y="5535725"/>
                <a:ext cx="10870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sepChr m:val="∣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ℳ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nl-NL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917912-613C-93BB-A339-D2F73AFB0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4631" y="5535725"/>
                <a:ext cx="1087028" cy="276999"/>
              </a:xfrm>
              <a:prstGeom prst="rect">
                <a:avLst/>
              </a:prstGeom>
              <a:blipFill>
                <a:blip r:embed="rId12"/>
                <a:stretch>
                  <a:fillRect l="-5618" b="-2391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618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8FE38-4A73-1CEB-3A3B-B7E875FC5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idea of Bayesian model averaging (BMA)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0EA08-3187-5CAB-8E31-CE116591E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 dirty="0"/>
              <a:t>Our models are often about predictions/quantities.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Different models (= hypotheses) generate different predictions.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We might not know which model is true/best.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This might not even exist!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Or we don’t even care!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BMA is the </a:t>
            </a:r>
            <a:r>
              <a:rPr lang="en-US" sz="2400" dirty="0">
                <a:solidFill>
                  <a:schemeClr val="accent4"/>
                </a:solidFill>
              </a:rPr>
              <a:t>prediction</a:t>
            </a:r>
            <a:r>
              <a:rPr lang="en-US" sz="2400" dirty="0"/>
              <a:t> that averages over the </a:t>
            </a:r>
            <a:r>
              <a:rPr lang="en-US" sz="2400" dirty="0">
                <a:solidFill>
                  <a:schemeClr val="accent6"/>
                </a:solidFill>
              </a:rPr>
              <a:t>model uncertainty</a:t>
            </a:r>
            <a:r>
              <a:rPr lang="en-US" sz="2400" dirty="0"/>
              <a:t>.</a:t>
            </a:r>
            <a:endParaRPr lang="nl-NL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15BFEB-BF37-0BCF-FF46-852431EE5A39}"/>
                  </a:ext>
                </a:extLst>
              </p:cNvPr>
              <p:cNvSpPr txBox="1"/>
              <p:nvPr/>
            </p:nvSpPr>
            <p:spPr>
              <a:xfrm>
                <a:off x="4158723" y="4777130"/>
                <a:ext cx="2796022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sepChr m:val="∣"/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ℳ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ℳ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nl-NL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15BFEB-BF37-0BCF-FF46-852431EE5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723" y="4777130"/>
                <a:ext cx="2796022" cy="7789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4288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E597E-F97F-648B-B658-1312AA86B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4D02D-7045-D62B-7303-713BD0E9C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prior/posterior BMA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F62C61-2F16-FB1C-F645-89459F30B4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10000"/>
                  </a:lnSpc>
                </a:pPr>
                <a:r>
                  <a:rPr lang="en-US" sz="2400" dirty="0"/>
                  <a:t>The example showed the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prior</a:t>
                </a:r>
                <a:r>
                  <a:rPr lang="en-US" sz="2400" dirty="0"/>
                  <a:t> BMA: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sepChr m:val="∣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ℳ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ℳ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nl-NL" sz="2400" dirty="0"/>
              </a:p>
              <a:p>
                <a:pPr>
                  <a:lnSpc>
                    <a:spcPct val="110000"/>
                  </a:lnSpc>
                </a:pPr>
                <a:r>
                  <a:rPr lang="nl-NL" sz="2400" dirty="0" err="1"/>
                  <a:t>Experiments</a:t>
                </a:r>
                <a:r>
                  <a:rPr lang="nl-NL" sz="2400" dirty="0"/>
                  <a:t>/</a:t>
                </a:r>
                <a:r>
                  <a:rPr lang="nl-NL" sz="2400" dirty="0" err="1"/>
                  <a:t>observations</a:t>
                </a:r>
                <a:r>
                  <a:rPr lang="nl-NL" sz="2400" dirty="0"/>
                  <a:t> change </a:t>
                </a:r>
                <a:r>
                  <a:rPr lang="nl-NL" sz="2400" dirty="0" err="1"/>
                  <a:t>our</a:t>
                </a:r>
                <a:r>
                  <a:rPr lang="nl-NL" sz="2400" dirty="0"/>
                  <a:t> </a:t>
                </a:r>
                <a:r>
                  <a:rPr lang="nl-NL" sz="2400" dirty="0" err="1"/>
                  <a:t>uncertainty</a:t>
                </a:r>
                <a:r>
                  <a:rPr lang="nl-NL" sz="2400" dirty="0"/>
                  <a:t> </a:t>
                </a:r>
                <a:r>
                  <a:rPr lang="nl-NL" sz="2400" dirty="0" err="1"/>
                  <a:t>about</a:t>
                </a:r>
                <a:r>
                  <a:rPr lang="nl-NL" sz="2400" dirty="0"/>
                  <a:t> </a:t>
                </a:r>
                <a14:m>
                  <m:oMath xmlns:m="http://schemas.openxmlformats.org/officeDocument/2006/math">
                    <m:r>
                      <a:rPr lang="nl-NL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nl-NL" sz="2400" dirty="0"/>
                  <a:t>.</a:t>
                </a:r>
              </a:p>
              <a:p>
                <a:pPr>
                  <a:lnSpc>
                    <a:spcPct val="110000"/>
                  </a:lnSpc>
                </a:pPr>
                <a:r>
                  <a:rPr lang="nl-NL" sz="2400" dirty="0"/>
                  <a:t>Let </a:t>
                </a:r>
                <a14:m>
                  <m:oMath xmlns:m="http://schemas.openxmlformats.org/officeDocument/2006/math">
                    <m:r>
                      <a:rPr lang="nl-NL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nl-NL" sz="2400" dirty="0"/>
                  <a:t> </a:t>
                </a:r>
                <a:r>
                  <a:rPr lang="nl-NL" sz="2400" dirty="0" err="1"/>
                  <a:t>be</a:t>
                </a:r>
                <a:r>
                  <a:rPr lang="nl-NL" sz="2400" dirty="0"/>
                  <a:t> </a:t>
                </a:r>
                <a:r>
                  <a:rPr lang="nl-NL" sz="2400" dirty="0" err="1"/>
                  <a:t>our</a:t>
                </a:r>
                <a:r>
                  <a:rPr lang="nl-NL" sz="2400" dirty="0"/>
                  <a:t> dataset. </a:t>
                </a:r>
                <a:r>
                  <a:rPr lang="nl-NL" sz="2400" dirty="0" err="1"/>
                  <a:t>Then</a:t>
                </a:r>
                <a:r>
                  <a:rPr lang="nl-NL" sz="2400" dirty="0"/>
                  <a:t> </a:t>
                </a:r>
                <a:r>
                  <a:rPr lang="nl-NL" sz="2400" dirty="0" err="1"/>
                  <a:t>our</a:t>
                </a:r>
                <a:r>
                  <a:rPr lang="nl-NL" sz="2400" dirty="0"/>
                  <a:t> </a:t>
                </a:r>
                <a:r>
                  <a:rPr lang="nl-NL" sz="2400" dirty="0" err="1"/>
                  <a:t>updated</a:t>
                </a:r>
                <a:r>
                  <a:rPr lang="nl-NL" sz="2400" dirty="0"/>
                  <a:t> BMA is: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sepChr m:val="∣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sepChr m:val="∣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ℳ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𝒟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sepChr m:val="∣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ℳ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𝒟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nl-NL" dirty="0"/>
              </a:p>
              <a:p>
                <a:pPr>
                  <a:lnSpc>
                    <a:spcPct val="110000"/>
                  </a:lnSpc>
                </a:pPr>
                <a:endParaRPr lang="nl-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F62C61-2F16-FB1C-F645-89459F30B4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316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4100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999AC-C128-8BD2-C035-CC461B5EF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772EF-93B3-B3D1-55B2-85C6E5647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the train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4513C7-69BE-E84B-53C0-8773661844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nl-NL" sz="2000" dirty="0"/>
                  <a:t>Let </a:t>
                </a:r>
                <a:r>
                  <a:rPr lang="nl-NL" sz="2000" dirty="0" err="1"/>
                  <a:t>our</a:t>
                </a:r>
                <a:r>
                  <a:rPr lang="nl-NL" sz="2000" dirty="0"/>
                  <a:t> different model </a:t>
                </a:r>
                <a:r>
                  <a:rPr lang="nl-NL" sz="2000" dirty="0" err="1"/>
                  <a:t>uncertainties</a:t>
                </a:r>
                <a:r>
                  <a:rPr lang="nl-NL" sz="2000" dirty="0"/>
                  <a:t> </a:t>
                </a:r>
                <a:r>
                  <a:rPr lang="nl-NL" sz="2000" dirty="0" err="1"/>
                  <a:t>be</a:t>
                </a:r>
                <a:r>
                  <a:rPr lang="nl-NL" sz="2000" dirty="0"/>
                  <a:t> (</a:t>
                </a:r>
                <a:r>
                  <a:rPr lang="nl-NL" sz="2000" dirty="0" err="1"/>
                  <a:t>for</a:t>
                </a:r>
                <a:r>
                  <a:rPr lang="nl-NL" sz="2000" dirty="0"/>
                  <a:t> </a:t>
                </a:r>
                <a:r>
                  <a:rPr lang="nl-NL" sz="2000" dirty="0" err="1"/>
                  <a:t>example</a:t>
                </a:r>
                <a:r>
                  <a:rPr lang="nl-NL" sz="2000" dirty="0"/>
                  <a:t>):</a:t>
                </a: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0.9, 0.1, 0.0, 0.0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0.5, 0.5, 0.0, 0.0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0.2, 0.8, 0.0, 0.0</m:t>
                        </m:r>
                      </m:e>
                    </m:d>
                  </m:oMath>
                </a14:m>
                <a:endParaRPr lang="nl-NL" sz="1800" dirty="0"/>
              </a:p>
              <a:p>
                <a:pPr>
                  <a:lnSpc>
                    <a:spcPct val="110000"/>
                  </a:lnSpc>
                </a:pPr>
                <a:r>
                  <a:rPr lang="nl-NL" sz="2000" dirty="0" err="1"/>
                  <a:t>This</a:t>
                </a:r>
                <a:r>
                  <a:rPr lang="nl-NL" sz="2000" dirty="0"/>
                  <a:t> changes </a:t>
                </a:r>
                <a:r>
                  <a:rPr lang="nl-NL" sz="2000" dirty="0" err="1"/>
                  <a:t>the</a:t>
                </a:r>
                <a:r>
                  <a:rPr lang="nl-NL" sz="2000" dirty="0"/>
                  <a:t> BMA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nl-NL" sz="2000" dirty="0"/>
                  <a:t> (</a:t>
                </a:r>
                <a:r>
                  <a:rPr lang="nl-NL" sz="2000" dirty="0" err="1"/>
                  <a:t>and</a:t>
                </a:r>
                <a:r>
                  <a:rPr lang="nl-NL" sz="2000" dirty="0"/>
                  <a:t> </a:t>
                </a:r>
                <a:r>
                  <a:rPr lang="nl-NL" sz="2000" dirty="0" err="1"/>
                  <a:t>derived</a:t>
                </a:r>
                <a:r>
                  <a:rPr lang="nl-NL" sz="2000" dirty="0"/>
                  <a:t> </a:t>
                </a:r>
                <a:r>
                  <a:rPr lang="nl-NL" sz="2000" dirty="0" err="1"/>
                  <a:t>quantities</a:t>
                </a:r>
                <a:r>
                  <a:rPr lang="nl-NL" sz="2000" dirty="0"/>
                  <a:t> like </a:t>
                </a:r>
                <a:r>
                  <a:rPr lang="nl-NL" sz="2000" dirty="0" err="1"/>
                  <a:t>its</a:t>
                </a:r>
                <a:r>
                  <a:rPr lang="nl-NL" sz="2000" dirty="0"/>
                  <a:t> </a:t>
                </a:r>
                <a:r>
                  <a:rPr lang="nl-NL" sz="2000" dirty="0" err="1"/>
                  <a:t>expectation</a:t>
                </a:r>
                <a:r>
                  <a:rPr lang="nl-NL" sz="2000" dirty="0"/>
                  <a:t>) drastically: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4513C7-69BE-E84B-53C0-8773661844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8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367894F-EA0D-30E1-478D-3459C51DC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829" y="3097454"/>
            <a:ext cx="9820275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3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184FA-EE68-E1A8-444D-E880B1477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D0705-7857-BC70-6D2A-B821FA2D2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argument for BMA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A8A9A0-60D0-5174-2027-56EEF3629B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sz="1800" dirty="0"/>
                  <a:t>Testing a model (= hypothesis) in the Bayesian framework comes down to the posterior model probability (PMP):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sepChr m:val="∣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</m:e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sepChr m:val="∣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𝒟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ℳ</m:t>
                              </m:r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𝒟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nl-NL" sz="1800" dirty="0"/>
              </a:p>
              <a:p>
                <a:pPr>
                  <a:lnSpc>
                    <a:spcPct val="110000"/>
                  </a:lnSpc>
                </a:pPr>
                <a:r>
                  <a:rPr lang="nl-NL" sz="1800" dirty="0"/>
                  <a:t>We </a:t>
                </a:r>
                <a:r>
                  <a:rPr lang="nl-NL" sz="1800" dirty="0" err="1"/>
                  <a:t>then</a:t>
                </a:r>
                <a:r>
                  <a:rPr lang="nl-NL" sz="1800" dirty="0"/>
                  <a:t> </a:t>
                </a:r>
                <a:r>
                  <a:rPr lang="nl-NL" sz="1800" dirty="0" err="1"/>
                  <a:t>compare</a:t>
                </a:r>
                <a:r>
                  <a:rPr lang="nl-NL" sz="1800" dirty="0"/>
                  <a:t> </a:t>
                </a:r>
                <a:r>
                  <a:rPr lang="nl-NL" sz="1800" dirty="0" err="1"/>
                  <a:t>PMPs</a:t>
                </a:r>
                <a:r>
                  <a:rPr lang="nl-NL" sz="1800" dirty="0"/>
                  <a:t> </a:t>
                </a:r>
                <a:r>
                  <a:rPr lang="nl-NL" sz="1800" dirty="0" err="1"/>
                  <a:t>across</a:t>
                </a:r>
                <a:r>
                  <a:rPr lang="nl-NL" sz="1800" dirty="0"/>
                  <a:t> </a:t>
                </a:r>
                <a:r>
                  <a:rPr lang="nl-NL" sz="1800" dirty="0" err="1"/>
                  <a:t>models</a:t>
                </a:r>
                <a:r>
                  <a:rPr lang="nl-NL" sz="1800" dirty="0"/>
                  <a:t>, </a:t>
                </a:r>
                <a:r>
                  <a:rPr lang="nl-NL" sz="1800" dirty="0" err="1"/>
                  <a:t>and</a:t>
                </a:r>
                <a:r>
                  <a:rPr lang="nl-NL" sz="1800" dirty="0"/>
                  <a:t> we </a:t>
                </a:r>
                <a:r>
                  <a:rPr lang="nl-NL" sz="1800" dirty="0" err="1"/>
                  <a:t>can</a:t>
                </a:r>
                <a:r>
                  <a:rPr lang="nl-NL" sz="1800" dirty="0"/>
                  <a:t> </a:t>
                </a:r>
                <a:r>
                  <a:rPr lang="nl-NL" sz="1800" dirty="0" err="1"/>
                  <a:t>find</a:t>
                </a:r>
                <a:r>
                  <a:rPr lang="nl-NL" sz="1800" dirty="0"/>
                  <a:t> </a:t>
                </a:r>
                <a:r>
                  <a:rPr lang="nl-NL" sz="1800" dirty="0" err="1"/>
                  <a:t>the</a:t>
                </a:r>
                <a:r>
                  <a:rPr lang="nl-NL" sz="1800" dirty="0"/>
                  <a:t> most </a:t>
                </a:r>
                <a:r>
                  <a:rPr lang="nl-NL" sz="1800" dirty="0" err="1"/>
                  <a:t>plausible</a:t>
                </a:r>
                <a:r>
                  <a:rPr lang="nl-NL" sz="1800" dirty="0"/>
                  <a:t> model, say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</m:acc>
                  </m:oMath>
                </a14:m>
                <a:r>
                  <a:rPr lang="nl-NL" sz="1800" dirty="0"/>
                  <a:t>.</a:t>
                </a:r>
              </a:p>
              <a:p>
                <a:pPr>
                  <a:lnSpc>
                    <a:spcPct val="110000"/>
                  </a:lnSpc>
                </a:pPr>
                <a:r>
                  <a:rPr lang="nl-NL" sz="1800" dirty="0"/>
                  <a:t>We </a:t>
                </a:r>
                <a:r>
                  <a:rPr lang="nl-NL" sz="1800" dirty="0" err="1"/>
                  <a:t>can</a:t>
                </a:r>
                <a:r>
                  <a:rPr lang="nl-NL" sz="1800" dirty="0"/>
                  <a:t> </a:t>
                </a:r>
                <a:r>
                  <a:rPr lang="nl-NL" sz="1800" dirty="0" err="1"/>
                  <a:t>then</a:t>
                </a:r>
                <a:r>
                  <a:rPr lang="nl-NL" sz="1800" dirty="0"/>
                  <a:t> </a:t>
                </a:r>
                <a:r>
                  <a:rPr lang="nl-NL" sz="1800" dirty="0" err="1"/>
                  <a:t>compute</a:t>
                </a:r>
                <a:r>
                  <a:rPr lang="nl-NL" sz="1800" dirty="0"/>
                  <a:t> e.g.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sepChr m:val="∣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e>
                        <m:acc>
                          <m:accPr>
                            <m:chr m:val="̂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ℳ</m:t>
                            </m:r>
                          </m:e>
                        </m:acc>
                      </m:e>
                    </m:d>
                  </m:oMath>
                </a14:m>
                <a:r>
                  <a:rPr lang="nl-NL" sz="1800" dirty="0"/>
                  <a:t>.</a:t>
                </a:r>
              </a:p>
              <a:p>
                <a:pPr>
                  <a:lnSpc>
                    <a:spcPct val="110000"/>
                  </a:lnSpc>
                </a:pPr>
                <a:r>
                  <a:rPr lang="nl-NL" sz="1800" dirty="0"/>
                  <a:t>But </a:t>
                </a:r>
                <a:r>
                  <a:rPr lang="nl-NL" sz="1800" dirty="0" err="1"/>
                  <a:t>wait</a:t>
                </a:r>
                <a:r>
                  <a:rPr lang="nl-NL" sz="1800" dirty="0"/>
                  <a:t>! </a:t>
                </a:r>
                <a:r>
                  <a:rPr lang="nl-NL" sz="1800" dirty="0" err="1"/>
                  <a:t>There</a:t>
                </a:r>
                <a:r>
                  <a:rPr lang="nl-NL" sz="1800" dirty="0"/>
                  <a:t> is </a:t>
                </a:r>
                <a:r>
                  <a:rPr lang="nl-NL" sz="1800" dirty="0" err="1"/>
                  <a:t>uncertainty</a:t>
                </a:r>
                <a:r>
                  <a:rPr lang="nl-NL" sz="1800" dirty="0"/>
                  <a:t> </a:t>
                </a:r>
                <a:r>
                  <a:rPr lang="nl-NL" sz="1800" dirty="0" err="1"/>
                  <a:t>remaining</a:t>
                </a:r>
                <a:r>
                  <a:rPr lang="nl-NL" sz="1800" dirty="0"/>
                  <a:t> – </a:t>
                </a:r>
                <a:r>
                  <a:rPr lang="nl-NL" sz="1800" dirty="0" err="1"/>
                  <a:t>not</a:t>
                </a:r>
                <a:r>
                  <a:rPr lang="nl-NL" sz="1800" dirty="0"/>
                  <a:t> </a:t>
                </a:r>
                <a:r>
                  <a:rPr lang="nl-NL" sz="1800" dirty="0" err="1"/>
                  <a:t>just</a:t>
                </a:r>
                <a:r>
                  <a:rPr lang="nl-NL" sz="1800" dirty="0"/>
                  <a:t> </a:t>
                </a:r>
                <a:r>
                  <a:rPr lang="nl-NL" sz="1800" dirty="0" err="1"/>
                  <a:t>about</a:t>
                </a:r>
                <a:r>
                  <a:rPr lang="nl-NL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nl-NL" sz="1800" dirty="0"/>
                  <a:t>, but </a:t>
                </a:r>
                <a:r>
                  <a:rPr lang="nl-NL" sz="1800" dirty="0" err="1"/>
                  <a:t>also</a:t>
                </a:r>
                <a:r>
                  <a:rPr lang="nl-NL" sz="1800" dirty="0"/>
                  <a:t> </a:t>
                </a:r>
                <a:r>
                  <a:rPr lang="nl-NL" sz="1800" dirty="0" err="1"/>
                  <a:t>about</a:t>
                </a:r>
                <a:r>
                  <a:rPr lang="nl-NL" sz="1800" dirty="0"/>
                  <a:t> </a:t>
                </a:r>
                <a14:m>
                  <m:oMath xmlns:m="http://schemas.openxmlformats.org/officeDocument/2006/math">
                    <m:r>
                      <a:rPr lang="nl-NL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nl-NL" sz="1800" dirty="0"/>
                  <a:t>.</a:t>
                </a:r>
              </a:p>
              <a:p>
                <a:pPr>
                  <a:lnSpc>
                    <a:spcPct val="110000"/>
                  </a:lnSpc>
                </a:pPr>
                <a:endParaRPr lang="nl-NL" sz="1800" dirty="0"/>
              </a:p>
              <a:p>
                <a:pPr>
                  <a:lnSpc>
                    <a:spcPct val="110000"/>
                  </a:lnSpc>
                </a:pPr>
                <a:r>
                  <a:rPr lang="nl-NL" sz="1800" dirty="0"/>
                  <a:t>We </a:t>
                </a:r>
                <a:r>
                  <a:rPr lang="nl-NL" sz="1800" dirty="0" err="1"/>
                  <a:t>rarely</a:t>
                </a:r>
                <a:r>
                  <a:rPr lang="nl-NL" sz="1800" dirty="0"/>
                  <a:t> have </a:t>
                </a:r>
                <a:r>
                  <a:rPr lang="nl-NL" sz="1800" dirty="0" err="1"/>
                  <a:t>enough</a:t>
                </a:r>
                <a:r>
                  <a:rPr lang="nl-NL" sz="1800" dirty="0"/>
                  <a:t> data </a:t>
                </a:r>
                <a:r>
                  <a:rPr lang="nl-NL" sz="1800" dirty="0" err="1"/>
                  <a:t>to</a:t>
                </a:r>
                <a:r>
                  <a:rPr lang="nl-NL" sz="1800" dirty="0"/>
                  <a:t> </a:t>
                </a:r>
                <a:r>
                  <a:rPr lang="nl-NL" sz="1800" dirty="0" err="1"/>
                  <a:t>very</a:t>
                </a:r>
                <a:r>
                  <a:rPr lang="nl-NL" sz="1800" dirty="0"/>
                  <a:t> </a:t>
                </a:r>
                <a:r>
                  <a:rPr lang="nl-NL" sz="1800" dirty="0" err="1"/>
                  <a:t>clearly</a:t>
                </a:r>
                <a:r>
                  <a:rPr lang="nl-NL" sz="1800" dirty="0"/>
                  <a:t> </a:t>
                </a:r>
                <a:r>
                  <a:rPr lang="nl-NL" sz="1800" dirty="0" err="1"/>
                  <a:t>identify</a:t>
                </a:r>
                <a:r>
                  <a:rPr lang="nl-NL" sz="1800" dirty="0"/>
                  <a:t> </a:t>
                </a:r>
                <a:r>
                  <a:rPr lang="nl-NL" sz="1800" dirty="0" err="1"/>
                  <a:t>one</a:t>
                </a:r>
                <a:r>
                  <a:rPr lang="nl-NL" sz="1800" dirty="0"/>
                  <a:t> single model, </a:t>
                </a:r>
                <a:r>
                  <a:rPr lang="nl-NL" sz="1800" dirty="0" err="1"/>
                  <a:t>especially</a:t>
                </a:r>
                <a:r>
                  <a:rPr lang="nl-NL" sz="1800" dirty="0"/>
                  <a:t> </a:t>
                </a:r>
                <a:r>
                  <a:rPr lang="nl-NL" sz="1800" dirty="0" err="1"/>
                  <a:t>when</a:t>
                </a:r>
                <a:r>
                  <a:rPr lang="nl-NL" sz="1800" dirty="0"/>
                  <a:t> we have </a:t>
                </a:r>
                <a:r>
                  <a:rPr lang="nl-NL" sz="1800" dirty="0" err="1"/>
                  <a:t>many</a:t>
                </a:r>
                <a:r>
                  <a:rPr lang="nl-NL" sz="1800" dirty="0"/>
                  <a:t> </a:t>
                </a:r>
                <a:r>
                  <a:rPr lang="nl-NL" sz="1800" dirty="0" err="1"/>
                  <a:t>candidates</a:t>
                </a:r>
                <a:r>
                  <a:rPr lang="nl-NL" sz="1800" dirty="0"/>
                  <a:t>.</a:t>
                </a:r>
              </a:p>
              <a:p>
                <a:pPr>
                  <a:lnSpc>
                    <a:spcPct val="110000"/>
                  </a:lnSpc>
                </a:pPr>
                <a:endParaRPr lang="nl-NL" sz="1800" dirty="0"/>
              </a:p>
              <a:p>
                <a:pPr>
                  <a:lnSpc>
                    <a:spcPct val="110000"/>
                  </a:lnSpc>
                </a:pPr>
                <a:endParaRPr lang="nl-NL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A8A9A0-60D0-5174-2027-56EEF3629B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28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8239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8EC6F-634E-4EB1-96EA-416B9FCCC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3938-F226-154F-11DB-F0F0CEC71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model </a:t>
            </a:r>
            <a:r>
              <a:rPr lang="en-US" u="sng" dirty="0"/>
              <a:t>averaging</a:t>
            </a:r>
            <a:r>
              <a:rPr lang="en-US" dirty="0"/>
              <a:t> vs </a:t>
            </a:r>
            <a:r>
              <a:rPr lang="en-US" u="sng" dirty="0"/>
              <a:t>selection</a:t>
            </a:r>
            <a:endParaRPr lang="nl-NL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EF9E90-72CF-66B0-36CE-1DBA75DB11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42900" indent="-342900">
                  <a:lnSpc>
                    <a:spcPct val="110000"/>
                  </a:lnSpc>
                  <a:buFont typeface="+mj-lt"/>
                  <a:buAutoNum type="arabicPeriod"/>
                </a:pPr>
                <a:r>
                  <a:rPr lang="en-US" sz="1800" dirty="0"/>
                  <a:t>BMA accounts for all uncertainty and avoids classical all-or-nothing hypothesis testing mentality.</a:t>
                </a:r>
              </a:p>
              <a:p>
                <a:pPr marL="342900" indent="-342900">
                  <a:lnSpc>
                    <a:spcPct val="110000"/>
                  </a:lnSpc>
                  <a:buFont typeface="+mj-lt"/>
                  <a:buAutoNum type="arabicPeriod"/>
                </a:pPr>
                <a:r>
                  <a:rPr lang="en-US" sz="1800" dirty="0"/>
                  <a:t>BMA reduces </a:t>
                </a:r>
                <a:r>
                  <a:rPr lang="en-US" sz="1800" u="sng" dirty="0"/>
                  <a:t>overconfidence</a:t>
                </a:r>
                <a:r>
                  <a:rPr lang="en-US" sz="1800" dirty="0"/>
                  <a:t>. Choosing one model essentially claims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sepChr m:val="∣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ℳ</m:t>
                            </m:r>
                          </m:e>
                        </m:acc>
                      </m:e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nl-NL" sz="1800" dirty="0"/>
                  <a:t>, </a:t>
                </a:r>
                <a:r>
                  <a:rPr lang="nl-NL" sz="1800" dirty="0" err="1"/>
                  <a:t>which</a:t>
                </a:r>
                <a:r>
                  <a:rPr lang="nl-NL" sz="1800" dirty="0"/>
                  <a:t> is never </a:t>
                </a:r>
                <a:r>
                  <a:rPr lang="nl-NL" sz="1800" dirty="0" err="1"/>
                  <a:t>true</a:t>
                </a:r>
                <a:r>
                  <a:rPr lang="nl-NL" sz="1800" dirty="0"/>
                  <a:t>!</a:t>
                </a:r>
              </a:p>
              <a:p>
                <a:pPr marL="342900" indent="-342900">
                  <a:lnSpc>
                    <a:spcPct val="110000"/>
                  </a:lnSpc>
                  <a:buFont typeface="+mj-lt"/>
                  <a:buAutoNum type="arabicPeriod"/>
                </a:pPr>
                <a:r>
                  <a:rPr lang="nl-NL" sz="1800" dirty="0"/>
                  <a:t>BMA </a:t>
                </a:r>
                <a:r>
                  <a:rPr lang="nl-NL" sz="1800" dirty="0" err="1"/>
                  <a:t>gives</a:t>
                </a:r>
                <a:r>
                  <a:rPr lang="nl-NL" sz="1800" dirty="0"/>
                  <a:t> </a:t>
                </a:r>
                <a:r>
                  <a:rPr lang="nl-NL" sz="1800" u="sng" dirty="0" err="1"/>
                  <a:t>optimal</a:t>
                </a:r>
                <a:r>
                  <a:rPr lang="nl-NL" sz="1800" u="sng" dirty="0"/>
                  <a:t> </a:t>
                </a:r>
                <a:r>
                  <a:rPr lang="nl-NL" sz="1800" u="sng" dirty="0" err="1"/>
                  <a:t>predictions</a:t>
                </a:r>
                <a:r>
                  <a:rPr lang="nl-NL" sz="1800" u="sng" dirty="0"/>
                  <a:t> </a:t>
                </a:r>
                <a:r>
                  <a:rPr lang="nl-NL" sz="1800" dirty="0"/>
                  <a:t>– </a:t>
                </a:r>
                <a:r>
                  <a:rPr lang="nl-NL" sz="1800" dirty="0" err="1"/>
                  <a:t>while</a:t>
                </a:r>
                <a:r>
                  <a:rPr lang="nl-NL" sz="1800" dirty="0"/>
                  <a:t> </a:t>
                </a:r>
                <a:r>
                  <a:rPr lang="nl-NL" sz="1800" dirty="0" err="1"/>
                  <a:t>you</a:t>
                </a:r>
                <a:r>
                  <a:rPr lang="nl-NL" sz="1800" dirty="0"/>
                  <a:t> get </a:t>
                </a:r>
                <a:r>
                  <a:rPr lang="nl-NL" sz="1800" dirty="0" err="1"/>
                  <a:t>the</a:t>
                </a:r>
                <a:r>
                  <a:rPr lang="nl-NL" sz="1800" dirty="0"/>
                  <a:t> best </a:t>
                </a:r>
                <a:r>
                  <a:rPr lang="nl-NL" sz="1800" dirty="0" err="1"/>
                  <a:t>predictions</a:t>
                </a:r>
                <a:r>
                  <a:rPr lang="nl-NL" sz="1800" dirty="0"/>
                  <a:t> </a:t>
                </a:r>
                <a:r>
                  <a:rPr lang="nl-NL" sz="1800" dirty="0" err="1"/>
                  <a:t>from</a:t>
                </a:r>
                <a:r>
                  <a:rPr lang="nl-NL" sz="1800" dirty="0"/>
                  <a:t> </a:t>
                </a:r>
                <a:r>
                  <a:rPr lang="nl-NL" sz="1800" dirty="0" err="1"/>
                  <a:t>the</a:t>
                </a:r>
                <a:r>
                  <a:rPr lang="nl-NL" sz="1800" dirty="0"/>
                  <a:t> </a:t>
                </a:r>
                <a:r>
                  <a:rPr lang="nl-NL" sz="1800" dirty="0" err="1"/>
                  <a:t>true</a:t>
                </a:r>
                <a:r>
                  <a:rPr lang="nl-NL" sz="1800" dirty="0"/>
                  <a:t> model, </a:t>
                </a:r>
                <a:r>
                  <a:rPr lang="nl-NL" sz="1800" dirty="0" err="1"/>
                  <a:t>there</a:t>
                </a:r>
                <a:r>
                  <a:rPr lang="nl-NL" sz="1800" dirty="0"/>
                  <a:t> is no </a:t>
                </a:r>
                <a:r>
                  <a:rPr lang="nl-NL" sz="1800" dirty="0" err="1"/>
                  <a:t>mechanism</a:t>
                </a:r>
                <a:r>
                  <a:rPr lang="nl-NL" sz="1800" dirty="0"/>
                  <a:t> </a:t>
                </a:r>
                <a:r>
                  <a:rPr lang="nl-NL" sz="1800" dirty="0" err="1"/>
                  <a:t>to</a:t>
                </a:r>
                <a:r>
                  <a:rPr lang="nl-NL" sz="1800" dirty="0"/>
                  <a:t> </a:t>
                </a:r>
                <a:r>
                  <a:rPr lang="nl-NL" sz="1800" dirty="0" err="1"/>
                  <a:t>consistently</a:t>
                </a:r>
                <a:r>
                  <a:rPr lang="nl-NL" sz="1800" dirty="0"/>
                  <a:t> </a:t>
                </a:r>
                <a:r>
                  <a:rPr lang="nl-NL" sz="1800" dirty="0" err="1"/>
                  <a:t>find</a:t>
                </a:r>
                <a:r>
                  <a:rPr lang="nl-NL" sz="1800" dirty="0"/>
                  <a:t> </a:t>
                </a:r>
                <a:r>
                  <a:rPr lang="nl-NL" sz="1800" dirty="0" err="1"/>
                  <a:t>this</a:t>
                </a:r>
                <a:r>
                  <a:rPr lang="nl-NL" sz="1800" dirty="0"/>
                  <a:t>!</a:t>
                </a:r>
              </a:p>
              <a:p>
                <a:pPr marL="342900" indent="-342900">
                  <a:lnSpc>
                    <a:spcPct val="110000"/>
                  </a:lnSpc>
                  <a:buFont typeface="+mj-lt"/>
                  <a:buAutoNum type="arabicPeriod"/>
                </a:pPr>
                <a:r>
                  <a:rPr lang="nl-NL" sz="1800" dirty="0"/>
                  <a:t>Model </a:t>
                </a:r>
                <a:r>
                  <a:rPr lang="nl-NL" sz="1800" dirty="0" err="1"/>
                  <a:t>selection</a:t>
                </a:r>
                <a:r>
                  <a:rPr lang="nl-NL" sz="1800" dirty="0"/>
                  <a:t> </a:t>
                </a:r>
                <a:r>
                  <a:rPr lang="nl-NL" sz="1800" dirty="0" err="1"/>
                  <a:t>might</a:t>
                </a:r>
                <a:r>
                  <a:rPr lang="nl-NL" sz="1800" dirty="0"/>
                  <a:t> </a:t>
                </a:r>
                <a:r>
                  <a:rPr lang="nl-NL" sz="1800" dirty="0" err="1"/>
                  <a:t>suddenly</a:t>
                </a:r>
                <a:r>
                  <a:rPr lang="nl-NL" sz="1800" dirty="0"/>
                  <a:t> </a:t>
                </a:r>
                <a:r>
                  <a:rPr lang="nl-NL" sz="1800" dirty="0" err="1"/>
                  <a:t>give</a:t>
                </a:r>
                <a:r>
                  <a:rPr lang="nl-NL" sz="1800" dirty="0"/>
                  <a:t> a new </a:t>
                </a:r>
                <a:r>
                  <a:rPr lang="nl-NL" sz="1800" dirty="0" err="1"/>
                  <a:t>answer</a:t>
                </a:r>
                <a:r>
                  <a:rPr lang="nl-NL" sz="1800" dirty="0"/>
                  <a:t> as more data </a:t>
                </a:r>
                <a:r>
                  <a:rPr lang="nl-NL" sz="1800" dirty="0" err="1"/>
                  <a:t>come</a:t>
                </a:r>
                <a:r>
                  <a:rPr lang="nl-NL" sz="1800" dirty="0"/>
                  <a:t> in. BMA changes </a:t>
                </a:r>
                <a:r>
                  <a:rPr lang="nl-NL" sz="1800" dirty="0" err="1"/>
                  <a:t>smoothly</a:t>
                </a:r>
                <a:r>
                  <a:rPr lang="nl-NL" sz="1800" dirty="0"/>
                  <a:t>, as new data </a:t>
                </a:r>
                <a:r>
                  <a:rPr lang="nl-NL" sz="1800" dirty="0" err="1"/>
                  <a:t>will</a:t>
                </a:r>
                <a:r>
                  <a:rPr lang="nl-NL" sz="1800" dirty="0"/>
                  <a:t> make </a:t>
                </a:r>
                <a:r>
                  <a:rPr lang="nl-NL" sz="1800" dirty="0" err="1"/>
                  <a:t>gradual</a:t>
                </a:r>
                <a:r>
                  <a:rPr lang="nl-NL" sz="1800" dirty="0"/>
                  <a:t> changes </a:t>
                </a:r>
                <a:r>
                  <a:rPr lang="nl-NL" sz="1800" dirty="0" err="1"/>
                  <a:t>to</a:t>
                </a:r>
                <a:r>
                  <a:rPr lang="nl-NL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sepChr m:val="∣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e>
                    </m:d>
                  </m:oMath>
                </a14:m>
                <a:r>
                  <a:rPr lang="nl-NL" sz="1800" dirty="0"/>
                  <a:t>.</a:t>
                </a:r>
              </a:p>
              <a:p>
                <a:pPr marL="342900" indent="-342900">
                  <a:lnSpc>
                    <a:spcPct val="110000"/>
                  </a:lnSpc>
                  <a:buFont typeface="+mj-lt"/>
                  <a:buAutoNum type="arabicPeriod"/>
                </a:pPr>
                <a:r>
                  <a:rPr lang="nl-NL" sz="1800" dirty="0"/>
                  <a:t>BMA is more </a:t>
                </a:r>
                <a:r>
                  <a:rPr lang="nl-NL" sz="1800" dirty="0" err="1"/>
                  <a:t>robust</a:t>
                </a:r>
                <a:r>
                  <a:rPr lang="nl-NL" sz="1800" dirty="0"/>
                  <a:t> </a:t>
                </a:r>
                <a:r>
                  <a:rPr lang="nl-NL" sz="1800" dirty="0" err="1"/>
                  <a:t>against</a:t>
                </a:r>
                <a:r>
                  <a:rPr lang="nl-NL" sz="1800" dirty="0"/>
                  <a:t> model </a:t>
                </a:r>
                <a:r>
                  <a:rPr lang="nl-NL" sz="1800" dirty="0" err="1"/>
                  <a:t>misspecificiaton</a:t>
                </a:r>
                <a:r>
                  <a:rPr lang="nl-NL" sz="1800" dirty="0"/>
                  <a:t>. </a:t>
                </a:r>
                <a:r>
                  <a:rPr lang="nl-NL" sz="1800" dirty="0" err="1"/>
                  <a:t>By</a:t>
                </a:r>
                <a:r>
                  <a:rPr lang="nl-NL" sz="1800" dirty="0"/>
                  <a:t> </a:t>
                </a:r>
                <a:r>
                  <a:rPr lang="nl-NL" sz="1800" dirty="0" err="1"/>
                  <a:t>considering</a:t>
                </a:r>
                <a:r>
                  <a:rPr lang="nl-NL" sz="1800" dirty="0"/>
                  <a:t> more </a:t>
                </a:r>
                <a:r>
                  <a:rPr lang="nl-NL" sz="1800" dirty="0" err="1"/>
                  <a:t>models</a:t>
                </a:r>
                <a:r>
                  <a:rPr lang="nl-NL" sz="1800" dirty="0"/>
                  <a:t>, </a:t>
                </a:r>
                <a:r>
                  <a:rPr lang="nl-NL" sz="1800" dirty="0" err="1"/>
                  <a:t>and</a:t>
                </a:r>
                <a:r>
                  <a:rPr lang="nl-NL" sz="1800" dirty="0"/>
                  <a:t> </a:t>
                </a:r>
                <a:r>
                  <a:rPr lang="nl-NL" sz="1800" dirty="0" err="1"/>
                  <a:t>using</a:t>
                </a:r>
                <a:r>
                  <a:rPr lang="nl-NL" sz="1800" dirty="0"/>
                  <a:t> BMA, </a:t>
                </a:r>
                <a:r>
                  <a:rPr lang="nl-NL" sz="1800" dirty="0" err="1"/>
                  <a:t>you</a:t>
                </a:r>
                <a:r>
                  <a:rPr lang="nl-NL" sz="1800" dirty="0"/>
                  <a:t> </a:t>
                </a:r>
                <a:r>
                  <a:rPr lang="nl-NL" sz="1800" dirty="0" err="1"/>
                  <a:t>increase</a:t>
                </a:r>
                <a:r>
                  <a:rPr lang="nl-NL" sz="1800" dirty="0"/>
                  <a:t> </a:t>
                </a:r>
                <a:r>
                  <a:rPr lang="nl-NL" sz="1800" dirty="0" err="1"/>
                  <a:t>the</a:t>
                </a:r>
                <a:r>
                  <a:rPr lang="nl-NL" sz="1800" dirty="0"/>
                  <a:t> chance of </a:t>
                </a:r>
                <a:r>
                  <a:rPr lang="nl-NL" sz="1800" dirty="0" err="1"/>
                  <a:t>finding</a:t>
                </a:r>
                <a:r>
                  <a:rPr lang="nl-NL" sz="1800" dirty="0"/>
                  <a:t> </a:t>
                </a:r>
                <a:r>
                  <a:rPr lang="nl-NL" sz="1800" dirty="0" err="1"/>
                  <a:t>the</a:t>
                </a:r>
                <a:r>
                  <a:rPr lang="nl-NL" sz="1800" dirty="0"/>
                  <a:t> right model.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nl-NL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Or </a:t>
                </a:r>
                <a:r>
                  <a:rPr lang="nl-NL" sz="14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finding</a:t>
                </a:r>
                <a:r>
                  <a:rPr lang="nl-NL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nl-NL" sz="14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the</a:t>
                </a:r>
                <a:r>
                  <a:rPr lang="nl-NL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model </a:t>
                </a:r>
                <a:r>
                  <a:rPr lang="nl-NL" sz="14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that</a:t>
                </a:r>
                <a:r>
                  <a:rPr lang="nl-NL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is </a:t>
                </a:r>
                <a:r>
                  <a:rPr lang="nl-NL" sz="14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closest</a:t>
                </a:r>
                <a:r>
                  <a:rPr lang="nl-NL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in KL-</a:t>
                </a:r>
                <a:r>
                  <a:rPr lang="nl-NL" sz="14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divergence</a:t>
                </a:r>
                <a:r>
                  <a:rPr lang="nl-NL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in </a:t>
                </a:r>
                <a:r>
                  <a:rPr lang="nl-NL" sz="14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the</a:t>
                </a:r>
                <a:r>
                  <a:rPr lang="nl-NL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nl-NL" sz="140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nl-NL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-open case!</a:t>
                </a:r>
              </a:p>
              <a:p>
                <a:pPr>
                  <a:lnSpc>
                    <a:spcPct val="110000"/>
                  </a:lnSpc>
                </a:pPr>
                <a:endParaRPr lang="nl-NL" sz="1800" dirty="0"/>
              </a:p>
              <a:p>
                <a:pPr>
                  <a:lnSpc>
                    <a:spcPct val="110000"/>
                  </a:lnSpc>
                </a:pPr>
                <a:endParaRPr lang="nl-NL" sz="1800" dirty="0"/>
              </a:p>
              <a:p>
                <a:pPr>
                  <a:lnSpc>
                    <a:spcPct val="110000"/>
                  </a:lnSpc>
                </a:pPr>
                <a:endParaRPr lang="nl-NL" sz="1800" dirty="0"/>
              </a:p>
              <a:p>
                <a:pPr>
                  <a:lnSpc>
                    <a:spcPct val="110000"/>
                  </a:lnSpc>
                </a:pPr>
                <a:endParaRPr lang="nl-NL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EF9E90-72CF-66B0-36CE-1DBA75DB11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420" r="-17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2258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5B956-8EDD-DAD9-FFD6-8EC76C226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9543E-5469-3735-1542-B8976B527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(not) use BMA</a:t>
            </a:r>
            <a:endParaRPr lang="nl-NL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CC8F40-B319-5C19-9262-5F9D321940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nl-NL" sz="2000" dirty="0"/>
                  <a:t>For </a:t>
                </a:r>
                <a:r>
                  <a:rPr lang="nl-NL" sz="2000" dirty="0" err="1"/>
                  <a:t>prediction</a:t>
                </a:r>
                <a:r>
                  <a:rPr lang="nl-NL" sz="2000" dirty="0"/>
                  <a:t>/</a:t>
                </a:r>
                <a:r>
                  <a:rPr lang="nl-NL" sz="2000" dirty="0" err="1"/>
                  <a:t>estimation</a:t>
                </a:r>
                <a:r>
                  <a:rPr lang="nl-NL" sz="2000" dirty="0"/>
                  <a:t> </a:t>
                </a:r>
                <a:r>
                  <a:rPr lang="nl-NL" sz="2000" dirty="0" err="1"/>
                  <a:t>where</a:t>
                </a:r>
                <a:r>
                  <a:rPr lang="nl-NL" sz="2000" dirty="0"/>
                  <a:t> </a:t>
                </a:r>
                <a:r>
                  <a:rPr lang="nl-NL" sz="2000" dirty="0" err="1"/>
                  <a:t>you</a:t>
                </a:r>
                <a:r>
                  <a:rPr lang="nl-NL" sz="2000" dirty="0"/>
                  <a:t> </a:t>
                </a:r>
                <a:r>
                  <a:rPr lang="nl-NL" sz="2000" dirty="0" err="1"/>
                  <a:t>don’t</a:t>
                </a:r>
                <a:r>
                  <a:rPr lang="nl-NL" sz="2000" dirty="0"/>
                  <a:t> care </a:t>
                </a:r>
                <a:r>
                  <a:rPr lang="nl-NL" sz="2000" dirty="0" err="1"/>
                  <a:t>about</a:t>
                </a:r>
                <a:r>
                  <a:rPr lang="nl-NL" sz="2000" dirty="0"/>
                  <a:t> </a:t>
                </a:r>
                <a:r>
                  <a:rPr lang="nl-NL" sz="2000" dirty="0" err="1"/>
                  <a:t>which</a:t>
                </a:r>
                <a:r>
                  <a:rPr lang="nl-NL" sz="2000" dirty="0"/>
                  <a:t> model was ‘</a:t>
                </a:r>
                <a:r>
                  <a:rPr lang="nl-NL" sz="2000" dirty="0" err="1"/>
                  <a:t>true</a:t>
                </a:r>
                <a:r>
                  <a:rPr lang="nl-NL" sz="2000" dirty="0"/>
                  <a:t>’.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nl-NL" sz="1600" dirty="0"/>
                  <a:t>Here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nl-NL" sz="1600" dirty="0"/>
                  <a:t> </a:t>
                </a:r>
                <a:r>
                  <a:rPr lang="nl-NL" sz="1600" dirty="0" err="1"/>
                  <a:t>becomes</a:t>
                </a:r>
                <a:r>
                  <a:rPr lang="nl-NL" sz="1600" dirty="0"/>
                  <a:t> a </a:t>
                </a:r>
                <a:r>
                  <a:rPr lang="nl-NL" sz="1600" dirty="0" err="1"/>
                  <a:t>nuisance</a:t>
                </a:r>
                <a:r>
                  <a:rPr lang="nl-NL" sz="1600" dirty="0"/>
                  <a:t> parameter </a:t>
                </a:r>
                <a:r>
                  <a:rPr lang="nl-NL" sz="1600" dirty="0" err="1"/>
                  <a:t>that</a:t>
                </a:r>
                <a:r>
                  <a:rPr lang="nl-NL" sz="1600" dirty="0"/>
                  <a:t> is </a:t>
                </a:r>
                <a:r>
                  <a:rPr lang="nl-NL" sz="1600" dirty="0" err="1"/>
                  <a:t>summed</a:t>
                </a:r>
                <a:r>
                  <a:rPr lang="nl-NL" sz="1600" dirty="0"/>
                  <a:t> out.</a:t>
                </a:r>
              </a:p>
              <a:p>
                <a:pPr>
                  <a:lnSpc>
                    <a:spcPct val="110000"/>
                  </a:lnSpc>
                </a:pPr>
                <a:r>
                  <a:rPr lang="nl-NL" sz="2000" dirty="0" err="1"/>
                  <a:t>If</a:t>
                </a:r>
                <a:r>
                  <a:rPr lang="nl-NL" sz="2000" dirty="0"/>
                  <a:t> </a:t>
                </a:r>
                <a:r>
                  <a:rPr lang="nl-NL" sz="2000" dirty="0" err="1"/>
                  <a:t>you</a:t>
                </a:r>
                <a:r>
                  <a:rPr lang="nl-NL" sz="2000" dirty="0"/>
                  <a:t> want </a:t>
                </a:r>
                <a:r>
                  <a:rPr lang="nl-NL" sz="2000" dirty="0" err="1"/>
                  <a:t>to</a:t>
                </a:r>
                <a:r>
                  <a:rPr lang="nl-NL" sz="2000" dirty="0"/>
                  <a:t> </a:t>
                </a:r>
                <a:r>
                  <a:rPr lang="nl-NL" sz="2000" dirty="0" err="1"/>
                  <a:t>know</a:t>
                </a:r>
                <a:r>
                  <a:rPr lang="nl-NL" sz="2000" dirty="0"/>
                  <a:t> </a:t>
                </a:r>
                <a:r>
                  <a:rPr lang="nl-NL" sz="2000" dirty="0" err="1"/>
                  <a:t>which</a:t>
                </a:r>
                <a:r>
                  <a:rPr lang="nl-NL" sz="2000" dirty="0"/>
                  <a:t> model best </a:t>
                </a:r>
                <a:r>
                  <a:rPr lang="nl-NL" sz="2000" dirty="0" err="1"/>
                  <a:t>describes</a:t>
                </a:r>
                <a:r>
                  <a:rPr lang="nl-NL" sz="2000" dirty="0"/>
                  <a:t> a </a:t>
                </a:r>
                <a:r>
                  <a:rPr lang="nl-NL" sz="2000" dirty="0" err="1"/>
                  <a:t>process</a:t>
                </a:r>
                <a:r>
                  <a:rPr lang="nl-NL" sz="2000" dirty="0"/>
                  <a:t>, </a:t>
                </a:r>
                <a:r>
                  <a:rPr lang="nl-NL" sz="2000" dirty="0" err="1"/>
                  <a:t>the</a:t>
                </a:r>
                <a:r>
                  <a:rPr lang="nl-NL" sz="2000" dirty="0"/>
                  <a:t> model is </a:t>
                </a:r>
                <a:r>
                  <a:rPr lang="nl-NL" sz="2000" dirty="0" err="1"/>
                  <a:t>the</a:t>
                </a:r>
                <a:r>
                  <a:rPr lang="nl-NL" sz="2000" dirty="0"/>
                  <a:t> focus!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nl-NL" sz="1600" dirty="0" err="1"/>
                  <a:t>This</a:t>
                </a:r>
                <a:r>
                  <a:rPr lang="nl-NL" sz="1600" dirty="0"/>
                  <a:t> is </a:t>
                </a:r>
                <a:r>
                  <a:rPr lang="nl-NL" sz="1600" dirty="0" err="1"/>
                  <a:t>not</a:t>
                </a:r>
                <a:r>
                  <a:rPr lang="nl-NL" sz="1600" dirty="0"/>
                  <a:t> </a:t>
                </a:r>
                <a:r>
                  <a:rPr lang="nl-NL" sz="1600" dirty="0" err="1"/>
                  <a:t>when</a:t>
                </a:r>
                <a:r>
                  <a:rPr lang="nl-NL" sz="1600" dirty="0"/>
                  <a:t> </a:t>
                </a:r>
                <a:r>
                  <a:rPr lang="nl-NL" sz="1600" dirty="0" err="1"/>
                  <a:t>you</a:t>
                </a:r>
                <a:r>
                  <a:rPr lang="nl-NL" sz="1600" dirty="0"/>
                  <a:t> want </a:t>
                </a:r>
                <a:r>
                  <a:rPr lang="nl-NL" sz="1600" dirty="0" err="1"/>
                  <a:t>to</a:t>
                </a:r>
                <a:r>
                  <a:rPr lang="nl-NL" sz="1600" dirty="0"/>
                  <a:t> </a:t>
                </a:r>
                <a:r>
                  <a:rPr lang="nl-NL" sz="1600" dirty="0" err="1"/>
                  <a:t>use</a:t>
                </a:r>
                <a:r>
                  <a:rPr lang="nl-NL" sz="1600" dirty="0"/>
                  <a:t> BMA, but model </a:t>
                </a:r>
                <a:r>
                  <a:rPr lang="nl-NL" sz="1600" dirty="0" err="1"/>
                  <a:t>selection</a:t>
                </a:r>
                <a:r>
                  <a:rPr lang="nl-NL" sz="1600" dirty="0"/>
                  <a:t>/</a:t>
                </a:r>
                <a:r>
                  <a:rPr lang="nl-NL" sz="1600" dirty="0" err="1"/>
                  <a:t>comparison</a:t>
                </a:r>
                <a:r>
                  <a:rPr lang="nl-NL" sz="1600" dirty="0"/>
                  <a:t>!</a:t>
                </a:r>
              </a:p>
              <a:p>
                <a:pPr>
                  <a:lnSpc>
                    <a:spcPct val="110000"/>
                  </a:lnSpc>
                </a:pPr>
                <a:endParaRPr lang="nl-NL" sz="1800" dirty="0"/>
              </a:p>
              <a:p>
                <a:pPr>
                  <a:lnSpc>
                    <a:spcPct val="110000"/>
                  </a:lnSpc>
                </a:pPr>
                <a:endParaRPr lang="nl-NL" sz="1800" dirty="0"/>
              </a:p>
              <a:p>
                <a:pPr>
                  <a:lnSpc>
                    <a:spcPct val="110000"/>
                  </a:lnSpc>
                </a:pPr>
                <a:endParaRPr lang="nl-NL" sz="1800" dirty="0"/>
              </a:p>
              <a:p>
                <a:pPr>
                  <a:lnSpc>
                    <a:spcPct val="110000"/>
                  </a:lnSpc>
                </a:pPr>
                <a:endParaRPr lang="nl-NL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CC8F40-B319-5C19-9262-5F9D321940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8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478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0F826-29C4-74D3-F0BA-1FC18B3D9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87D91-3623-4834-7E96-8702E4541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common scenario – inclusion probabilities</a:t>
            </a:r>
            <a:endParaRPr lang="nl-NL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D2C894-BDE2-6FF7-9BAA-A1EA3031B0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nl-NL" sz="2000" dirty="0"/>
                  <a:t>There are </a:t>
                </a:r>
                <a:r>
                  <a:rPr lang="nl-NL" sz="2000" dirty="0" err="1"/>
                  <a:t>many</a:t>
                </a:r>
                <a:r>
                  <a:rPr lang="nl-NL" sz="2000" dirty="0"/>
                  <a:t> </a:t>
                </a:r>
                <a:r>
                  <a:rPr lang="nl-NL" sz="2000" dirty="0" err="1"/>
                  <a:t>reasons</a:t>
                </a:r>
                <a:r>
                  <a:rPr lang="nl-NL" sz="2000" dirty="0"/>
                  <a:t> we </a:t>
                </a:r>
                <a:r>
                  <a:rPr lang="nl-NL" sz="2000" dirty="0" err="1"/>
                  <a:t>might</a:t>
                </a:r>
                <a:r>
                  <a:rPr lang="nl-NL" sz="2000" dirty="0"/>
                  <a:t> entertain multiple </a:t>
                </a:r>
                <a:r>
                  <a:rPr lang="nl-NL" sz="2000" dirty="0" err="1"/>
                  <a:t>models</a:t>
                </a:r>
                <a:r>
                  <a:rPr lang="nl-NL" sz="2000" dirty="0"/>
                  <a:t>, but </a:t>
                </a:r>
                <a:r>
                  <a:rPr lang="nl-NL" sz="2000" dirty="0" err="1"/>
                  <a:t>not</a:t>
                </a:r>
                <a:r>
                  <a:rPr lang="nl-NL" sz="2000" dirty="0"/>
                  <a:t> </a:t>
                </a:r>
                <a:r>
                  <a:rPr lang="nl-NL" sz="2000" dirty="0" err="1"/>
                  <a:t>specifically</a:t>
                </a:r>
                <a:r>
                  <a:rPr lang="nl-NL" sz="2000" dirty="0"/>
                  <a:t> </a:t>
                </a:r>
                <a:r>
                  <a:rPr lang="nl-NL" sz="2000" dirty="0" err="1"/>
                  <a:t>assume</a:t>
                </a:r>
                <a:r>
                  <a:rPr lang="nl-NL" sz="2000" dirty="0"/>
                  <a:t> </a:t>
                </a:r>
                <a:r>
                  <a:rPr lang="nl-NL" sz="2000" dirty="0" err="1"/>
                  <a:t>one</a:t>
                </a:r>
                <a:r>
                  <a:rPr lang="nl-NL" sz="2000" dirty="0"/>
                  <a:t> is ‘correct’.</a:t>
                </a:r>
              </a:p>
              <a:p>
                <a:pPr>
                  <a:lnSpc>
                    <a:spcPct val="110000"/>
                  </a:lnSpc>
                </a:pPr>
                <a:r>
                  <a:rPr lang="nl-NL" sz="2000" dirty="0"/>
                  <a:t>A common setting is </a:t>
                </a:r>
                <a:r>
                  <a:rPr lang="nl-NL" sz="2000" dirty="0" err="1"/>
                  <a:t>the</a:t>
                </a:r>
                <a:r>
                  <a:rPr lang="nl-NL" sz="2000" dirty="0"/>
                  <a:t> </a:t>
                </a:r>
                <a:r>
                  <a:rPr lang="nl-NL" sz="2000" dirty="0" err="1"/>
                  <a:t>linear</a:t>
                </a:r>
                <a:r>
                  <a:rPr lang="nl-NL" sz="2000" dirty="0"/>
                  <a:t> model </a:t>
                </a:r>
                <a:r>
                  <a:rPr lang="nl-NL" sz="2000" dirty="0" err="1"/>
                  <a:t>with</a:t>
                </a:r>
                <a:r>
                  <a:rPr lang="nl-NL" sz="2000" dirty="0"/>
                  <a:t>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nl-NL" sz="1600" dirty="0"/>
                  <a:t> </a:t>
                </a:r>
                <a:r>
                  <a:rPr lang="nl-NL" sz="2000" dirty="0" err="1"/>
                  <a:t>predictors</a:t>
                </a:r>
                <a:r>
                  <a:rPr lang="nl-NL" sz="2000" dirty="0"/>
                  <a:t>. 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nl-NL" sz="1600" dirty="0">
                    <a:solidFill>
                      <a:schemeClr val="tx1"/>
                    </a:solidFill>
                  </a:rPr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nl-NL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unique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configurations</a:t>
                </a:r>
                <a:r>
                  <a:rPr lang="nl-NL" sz="1600" dirty="0">
                    <a:solidFill>
                      <a:schemeClr val="tx1"/>
                    </a:solidFill>
                  </a:rPr>
                  <a:t> of </a:t>
                </a:r>
                <a:r>
                  <a:rPr lang="nl-NL" sz="1600" b="1" dirty="0">
                    <a:solidFill>
                      <a:schemeClr val="tx1"/>
                    </a:solidFill>
                  </a:rPr>
                  <a:t>in-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and</a:t>
                </a:r>
                <a:r>
                  <a:rPr lang="nl-NL" sz="1600" dirty="0">
                    <a:solidFill>
                      <a:schemeClr val="tx1"/>
                    </a:solidFill>
                  </a:rPr>
                  <a:t> </a:t>
                </a:r>
                <a:r>
                  <a:rPr lang="nl-NL" sz="1600" b="1" dirty="0" err="1">
                    <a:solidFill>
                      <a:schemeClr val="tx1"/>
                    </a:solidFill>
                  </a:rPr>
                  <a:t>excluding</a:t>
                </a:r>
                <a:r>
                  <a:rPr lang="nl-NL" sz="1600" dirty="0">
                    <a:solidFill>
                      <a:schemeClr val="tx1"/>
                    </a:solidFill>
                  </a:rPr>
                  <a:t> a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predictors</a:t>
                </a:r>
                <a:r>
                  <a:rPr lang="nl-NL" sz="1600" dirty="0">
                    <a:solidFill>
                      <a:schemeClr val="tx1"/>
                    </a:solidFill>
                  </a:rPr>
                  <a:t> are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the</a:t>
                </a:r>
                <a:r>
                  <a:rPr lang="nl-NL" sz="1600" dirty="0">
                    <a:solidFill>
                      <a:schemeClr val="tx1"/>
                    </a:solidFill>
                  </a:rPr>
                  <a:t> different </a:t>
                </a:r>
                <a:r>
                  <a:rPr lang="nl-NL" sz="1600" dirty="0" err="1">
                    <a:solidFill>
                      <a:schemeClr val="tx1"/>
                    </a:solidFill>
                  </a:rPr>
                  <a:t>models</a:t>
                </a:r>
                <a:r>
                  <a:rPr lang="nl-NL" sz="16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lnSpc>
                    <a:spcPct val="110000"/>
                  </a:lnSpc>
                </a:pPr>
                <a:r>
                  <a:rPr lang="nl-NL" sz="18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1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nl-NL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nl-NL" sz="1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nl-NL" sz="1800" dirty="0"/>
                  <a:t> </a:t>
                </a:r>
                <a:r>
                  <a:rPr lang="nl-NL" sz="1800" dirty="0" err="1"/>
                  <a:t>indicate</a:t>
                </a:r>
                <a:r>
                  <a:rPr lang="nl-NL" sz="1800" dirty="0"/>
                  <a:t> </a:t>
                </a:r>
                <a:r>
                  <a:rPr lang="nl-NL" sz="1800" dirty="0" err="1"/>
                  <a:t>that</a:t>
                </a:r>
                <a:r>
                  <a:rPr lang="nl-NL" sz="1800" dirty="0"/>
                  <a:t> </a:t>
                </a:r>
                <a:r>
                  <a:rPr lang="nl-NL" sz="1800" dirty="0" err="1"/>
                  <a:t>the</a:t>
                </a:r>
                <a:r>
                  <a:rPr lang="nl-NL" sz="1800" dirty="0"/>
                  <a:t> </a:t>
                </a:r>
                <a14:m>
                  <m:oMath xmlns:m="http://schemas.openxmlformats.org/officeDocument/2006/math">
                    <m:r>
                      <a:rPr lang="nl-NL" sz="18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nl-NL" sz="1800" dirty="0"/>
                  <a:t>-</a:t>
                </a:r>
                <a:r>
                  <a:rPr lang="nl-NL" sz="1800" dirty="0" err="1"/>
                  <a:t>th</a:t>
                </a:r>
                <a:r>
                  <a:rPr lang="nl-NL" sz="1800" dirty="0"/>
                  <a:t> predictor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l-NL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nl-NL" sz="1800" dirty="0"/>
                  <a:t>) is </a:t>
                </a:r>
                <a:r>
                  <a:rPr lang="nl-NL" sz="1800" dirty="0" err="1"/>
                  <a:t>included</a:t>
                </a:r>
                <a:r>
                  <a:rPr lang="nl-NL" sz="1800" dirty="0"/>
                  <a:t> in </a:t>
                </a:r>
                <a:r>
                  <a:rPr lang="nl-NL" sz="1800" dirty="0" err="1"/>
                  <a:t>the</a:t>
                </a:r>
                <a:r>
                  <a:rPr lang="nl-NL" sz="1800" dirty="0"/>
                  <a:t> model.</a:t>
                </a:r>
              </a:p>
              <a:p>
                <a:pPr>
                  <a:lnSpc>
                    <a:spcPct val="110000"/>
                  </a:lnSpc>
                </a:pPr>
                <a:r>
                  <a:rPr lang="nl-NL" sz="1800" dirty="0"/>
                  <a:t>The </a:t>
                </a:r>
                <a:r>
                  <a:rPr lang="nl-NL" sz="1800" b="1" dirty="0"/>
                  <a:t>prior/posterior </a:t>
                </a:r>
                <a:r>
                  <a:rPr lang="nl-NL" sz="1800" b="1" dirty="0" err="1"/>
                  <a:t>inclusion</a:t>
                </a:r>
                <a:r>
                  <a:rPr lang="nl-NL" sz="1800" b="1" dirty="0"/>
                  <a:t> </a:t>
                </a:r>
                <a:r>
                  <a:rPr lang="nl-NL" sz="1800" b="1" dirty="0" err="1"/>
                  <a:t>probabilities</a:t>
                </a:r>
                <a:r>
                  <a:rPr lang="nl-NL" sz="1800" b="1" dirty="0"/>
                  <a:t> </a:t>
                </a:r>
                <a:r>
                  <a:rPr lang="nl-NL" sz="1800" dirty="0"/>
                  <a:t>are </a:t>
                </a:r>
                <a:r>
                  <a:rPr lang="nl-NL" sz="1800" dirty="0" err="1"/>
                  <a:t>simply</a:t>
                </a:r>
                <a:r>
                  <a:rPr lang="nl-NL" sz="1800" dirty="0"/>
                  <a:t>:</a:t>
                </a:r>
              </a:p>
              <a:p>
                <a:pPr>
                  <a:lnSpc>
                    <a:spcPct val="110000"/>
                  </a:lnSpc>
                </a:pPr>
                <a:endParaRPr lang="nl-NL" sz="1800" dirty="0"/>
              </a:p>
              <a:p>
                <a:pPr>
                  <a:lnSpc>
                    <a:spcPct val="110000"/>
                  </a:lnSpc>
                </a:pPr>
                <a:endParaRPr lang="nl-NL" sz="1800" dirty="0"/>
              </a:p>
              <a:p>
                <a:pPr>
                  <a:lnSpc>
                    <a:spcPct val="110000"/>
                  </a:lnSpc>
                </a:pPr>
                <a:endParaRPr lang="nl-NL" sz="1800" dirty="0"/>
              </a:p>
              <a:p>
                <a:pPr>
                  <a:lnSpc>
                    <a:spcPct val="110000"/>
                  </a:lnSpc>
                </a:pPr>
                <a:r>
                  <a:rPr lang="nl-NL" sz="1800" dirty="0"/>
                  <a:t>We </a:t>
                </a:r>
                <a:r>
                  <a:rPr lang="nl-NL" sz="1800" dirty="0" err="1"/>
                  <a:t>can</a:t>
                </a:r>
                <a:r>
                  <a:rPr lang="nl-NL" sz="1800" dirty="0"/>
                  <a:t> </a:t>
                </a:r>
                <a:r>
                  <a:rPr lang="nl-NL" sz="1800" dirty="0" err="1"/>
                  <a:t>also</a:t>
                </a:r>
                <a:r>
                  <a:rPr lang="nl-NL" sz="1800" dirty="0"/>
                  <a:t> </a:t>
                </a:r>
                <a:r>
                  <a:rPr lang="nl-NL" sz="1800" dirty="0" err="1"/>
                  <a:t>compute</a:t>
                </a:r>
                <a:r>
                  <a:rPr lang="nl-NL" sz="1800" dirty="0"/>
                  <a:t> </a:t>
                </a:r>
                <a:r>
                  <a:rPr lang="nl-NL" sz="1800" dirty="0" err="1"/>
                  <a:t>an</a:t>
                </a:r>
                <a:r>
                  <a:rPr lang="nl-NL" sz="1800" dirty="0"/>
                  <a:t> </a:t>
                </a:r>
                <a:r>
                  <a:rPr lang="nl-NL" sz="1800" b="1" dirty="0" err="1"/>
                  <a:t>inclusion</a:t>
                </a:r>
                <a:r>
                  <a:rPr lang="nl-NL" sz="1800" b="1" dirty="0"/>
                  <a:t> Bayes factor</a:t>
                </a:r>
                <a:r>
                  <a:rPr lang="nl-NL" sz="1800" dirty="0"/>
                  <a:t>: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1800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nl-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lang="nl-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nl-NL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nl-NL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  <m:r>
                        <a:rPr lang="nl-NL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nl-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nl-N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ℳ</m:t>
                              </m:r>
                              <m:r>
                                <a:rPr lang="nl-N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nl-N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𝕄</m:t>
                              </m:r>
                              <m:r>
                                <a:rPr lang="nl-N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nl-NL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nl-NL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nl-N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/>
                            <m:e>
                              <m:r>
                                <a:rPr lang="nl-NL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sepChr m:val="∣"/>
                                  <m:ctrlPr>
                                    <a:rPr lang="nl-NL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𝒟</m:t>
                                  </m:r>
                                </m:e>
                                <m:e>
                                  <m:r>
                                    <a:rPr lang="nl-NL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ℳ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nl-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nl-N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ℳ</m:t>
                              </m:r>
                              <m:r>
                                <a:rPr lang="nl-N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nl-N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𝕄</m:t>
                              </m:r>
                              <m:r>
                                <a:rPr lang="nl-N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nl-NL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nl-NL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nl-NL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nl-NL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/>
                            <m:e>
                              <m:r>
                                <a:rPr lang="nl-NL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sepChr m:val="∣"/>
                                  <m:ctrlPr>
                                    <a:rPr lang="nl-NL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𝒟</m:t>
                                  </m:r>
                                </m:e>
                                <m:e>
                                  <m:r>
                                    <a:rPr lang="nl-NL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ℳ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nl-NL" sz="18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nl-NL" sz="1800" dirty="0"/>
              </a:p>
              <a:p>
                <a:pPr>
                  <a:lnSpc>
                    <a:spcPct val="110000"/>
                  </a:lnSpc>
                </a:pPr>
                <a:endParaRPr lang="nl-NL" sz="1800" dirty="0"/>
              </a:p>
              <a:p>
                <a:pPr>
                  <a:lnSpc>
                    <a:spcPct val="110000"/>
                  </a:lnSpc>
                </a:pPr>
                <a:endParaRPr lang="nl-NL" sz="1800" dirty="0"/>
              </a:p>
              <a:p>
                <a:pPr>
                  <a:lnSpc>
                    <a:spcPct val="110000"/>
                  </a:lnSpc>
                </a:pPr>
                <a:endParaRPr lang="nl-NL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D2C894-BDE2-6FF7-9BAA-A1EA3031B0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t="-140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 3">
                <a:extLst>
                  <a:ext uri="{FF2B5EF4-FFF2-40B4-BE49-F238E27FC236}">
                    <a16:creationId xmlns:a16="http://schemas.microsoft.com/office/drawing/2014/main" id="{A275DBD1-31E7-133F-A134-27D4777677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4192334"/>
                  </p:ext>
                </p:extLst>
              </p:nvPr>
            </p:nvGraphicFramePr>
            <p:xfrm>
              <a:off x="1263498" y="3901777"/>
              <a:ext cx="9782048" cy="79298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56701">
                      <a:extLst>
                        <a:ext uri="{9D8B030D-6E8A-4147-A177-3AD203B41FA5}">
                          <a16:colId xmlns:a16="http://schemas.microsoft.com/office/drawing/2014/main" val="4294191085"/>
                        </a:ext>
                      </a:extLst>
                    </a:gridCol>
                    <a:gridCol w="1051126">
                      <a:extLst>
                        <a:ext uri="{9D8B030D-6E8A-4147-A177-3AD203B41FA5}">
                          <a16:colId xmlns:a16="http://schemas.microsoft.com/office/drawing/2014/main" val="3823251953"/>
                        </a:ext>
                      </a:extLst>
                    </a:gridCol>
                    <a:gridCol w="4274221">
                      <a:extLst>
                        <a:ext uri="{9D8B030D-6E8A-4147-A177-3AD203B41FA5}">
                          <a16:colId xmlns:a16="http://schemas.microsoft.com/office/drawing/2014/main" val="13817609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nl-NL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nl-NL" b="0" i="1" smtClean="0"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e>
                                      <m:sub>
                                        <m:r>
                                          <a:rPr lang="nl-NL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e>
                                </m:d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nl-NL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ℳ</m:t>
                                    </m:r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𝕄</m:t>
                                    </m:r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:</m:t>
                                    </m:r>
                                    <m:sSub>
                                      <m:sSubPr>
                                        <m:ctrlPr>
                                          <a:rPr lang="nl-NL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nl-NL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e>
                                      <m:sub>
                                        <m:r>
                                          <a:rPr lang="nl-NL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/>
                                  <m:e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nl-NL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NL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ℳ</m:t>
                                        </m:r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nl-NL" dirty="0" err="1"/>
                            <a:t>and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nl-NL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nl-NL" b="0" i="1" smtClean="0"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e>
                                      <m:sub>
                                        <m:r>
                                          <a:rPr lang="nl-NL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  <m:t>=1∣</m:t>
                                    </m:r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𝒟</m:t>
                                    </m:r>
                                  </m:e>
                                </m:d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nl-NL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ℳ</m:t>
                                    </m:r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𝕄</m:t>
                                    </m:r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:</m:t>
                                    </m:r>
                                    <m:sSub>
                                      <m:sSubPr>
                                        <m:ctrlPr>
                                          <a:rPr lang="nl-NL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nl-NL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e>
                                      <m:sub>
                                        <m:r>
                                          <a:rPr lang="nl-NL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/>
                                  <m:e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nl-NL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NL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ℳ</m:t>
                                        </m:r>
                                        <m:r>
                                          <a:rPr lang="nl-NL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∣</m:t>
                                        </m:r>
                                        <m:r>
                                          <a:rPr lang="nl-NL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𝒟</m:t>
                                        </m:r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108206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 3">
                <a:extLst>
                  <a:ext uri="{FF2B5EF4-FFF2-40B4-BE49-F238E27FC236}">
                    <a16:creationId xmlns:a16="http://schemas.microsoft.com/office/drawing/2014/main" id="{A275DBD1-31E7-133F-A134-27D4777677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4192334"/>
                  </p:ext>
                </p:extLst>
              </p:nvPr>
            </p:nvGraphicFramePr>
            <p:xfrm>
              <a:off x="1263498" y="3901777"/>
              <a:ext cx="9782048" cy="79298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56701">
                      <a:extLst>
                        <a:ext uri="{9D8B030D-6E8A-4147-A177-3AD203B41FA5}">
                          <a16:colId xmlns:a16="http://schemas.microsoft.com/office/drawing/2014/main" val="4294191085"/>
                        </a:ext>
                      </a:extLst>
                    </a:gridCol>
                    <a:gridCol w="1051126">
                      <a:extLst>
                        <a:ext uri="{9D8B030D-6E8A-4147-A177-3AD203B41FA5}">
                          <a16:colId xmlns:a16="http://schemas.microsoft.com/office/drawing/2014/main" val="3823251953"/>
                        </a:ext>
                      </a:extLst>
                    </a:gridCol>
                    <a:gridCol w="4274221">
                      <a:extLst>
                        <a:ext uri="{9D8B030D-6E8A-4147-A177-3AD203B41FA5}">
                          <a16:colId xmlns:a16="http://schemas.microsoft.com/office/drawing/2014/main" val="1381760921"/>
                        </a:ext>
                      </a:extLst>
                    </a:gridCol>
                  </a:tblGrid>
                  <a:tr h="792988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>
                        <a:blipFill>
                          <a:blip r:embed="rId3"/>
                          <a:stretch>
                            <a:fillRect r="-1195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nl-NL" dirty="0" err="1"/>
                            <a:t>and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89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82065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60004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00217-1277-7F46-7062-5A7A45117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F936A-DFC4-618A-0072-911DC62A7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very simple example</a:t>
            </a:r>
            <a:endParaRPr lang="nl-NL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6A88D-1579-1133-A0C4-93631084B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nl-NL" sz="2000" dirty="0" err="1"/>
              <a:t>Shen</a:t>
            </a:r>
            <a:r>
              <a:rPr lang="nl-NL" sz="2000" dirty="0"/>
              <a:t> et al.: Does </a:t>
            </a:r>
            <a:r>
              <a:rPr lang="nl-NL" sz="2000" dirty="0" err="1"/>
              <a:t>expressive</a:t>
            </a:r>
            <a:r>
              <a:rPr lang="nl-NL" sz="2000" dirty="0"/>
              <a:t> </a:t>
            </a:r>
            <a:r>
              <a:rPr lang="nl-NL" sz="2000" dirty="0" err="1"/>
              <a:t>writing</a:t>
            </a:r>
            <a:r>
              <a:rPr lang="nl-NL" sz="2000" dirty="0"/>
              <a:t> </a:t>
            </a:r>
            <a:r>
              <a:rPr lang="nl-NL" sz="2000" dirty="0" err="1"/>
              <a:t>reduce</a:t>
            </a:r>
            <a:r>
              <a:rPr lang="nl-NL" sz="2000" dirty="0"/>
              <a:t> test </a:t>
            </a:r>
            <a:r>
              <a:rPr lang="nl-NL" sz="2000" dirty="0" err="1"/>
              <a:t>anxiety</a:t>
            </a:r>
            <a:r>
              <a:rPr lang="nl-NL" sz="2000" dirty="0"/>
              <a:t> </a:t>
            </a:r>
            <a:r>
              <a:rPr lang="nl-NL" sz="2000" dirty="0" err="1"/>
              <a:t>for</a:t>
            </a:r>
            <a:r>
              <a:rPr lang="nl-NL" sz="2000" dirty="0"/>
              <a:t> high school </a:t>
            </a:r>
            <a:r>
              <a:rPr lang="nl-NL" sz="2000" dirty="0" err="1"/>
              <a:t>students</a:t>
            </a:r>
            <a:r>
              <a:rPr lang="nl-NL" sz="2000" dirty="0"/>
              <a:t>?</a:t>
            </a:r>
          </a:p>
          <a:p>
            <a:pPr>
              <a:lnSpc>
                <a:spcPct val="110000"/>
              </a:lnSpc>
            </a:pPr>
            <a:r>
              <a:rPr lang="nl-NL" sz="2000" dirty="0" err="1"/>
              <a:t>Predictors</a:t>
            </a:r>
            <a:r>
              <a:rPr lang="nl-NL" sz="2000" dirty="0"/>
              <a:t>/</a:t>
            </a:r>
            <a:r>
              <a:rPr lang="nl-NL" sz="2000" dirty="0" err="1"/>
              <a:t>covariates</a:t>
            </a:r>
            <a:r>
              <a:rPr lang="nl-NL" sz="2000" dirty="0"/>
              <a:t>: </a:t>
            </a:r>
            <a:r>
              <a:rPr lang="nl-NL" sz="2000" dirty="0" err="1"/>
              <a:t>group</a:t>
            </a:r>
            <a:r>
              <a:rPr lang="nl-NL" sz="2000" dirty="0"/>
              <a:t> (</a:t>
            </a:r>
            <a:r>
              <a:rPr lang="nl-NL" sz="2000" dirty="0" err="1"/>
              <a:t>intervention</a:t>
            </a:r>
            <a:r>
              <a:rPr lang="nl-NL" sz="2000" dirty="0"/>
              <a:t> / control), gender, pre-test </a:t>
            </a:r>
            <a:r>
              <a:rPr lang="nl-NL" sz="2000" dirty="0" err="1"/>
              <a:t>anxiety</a:t>
            </a:r>
            <a:r>
              <a:rPr lang="nl-NL" sz="2000" dirty="0"/>
              <a:t> score</a:t>
            </a:r>
          </a:p>
          <a:p>
            <a:pPr>
              <a:lnSpc>
                <a:spcPct val="110000"/>
              </a:lnSpc>
            </a:pPr>
            <a:r>
              <a:rPr lang="nl-NL" sz="2000" dirty="0"/>
              <a:t>Target: post-test </a:t>
            </a:r>
            <a:r>
              <a:rPr lang="nl-NL" sz="2000" dirty="0" err="1"/>
              <a:t>anxiety</a:t>
            </a:r>
            <a:r>
              <a:rPr lang="nl-NL" sz="2000" dirty="0"/>
              <a:t> score.</a:t>
            </a:r>
          </a:p>
          <a:p>
            <a:pPr>
              <a:lnSpc>
                <a:spcPct val="110000"/>
              </a:lnSpc>
            </a:pPr>
            <a:r>
              <a:rPr lang="nl-NL" sz="2000" dirty="0"/>
              <a:t>Analysis: </a:t>
            </a:r>
            <a:r>
              <a:rPr lang="nl-NL" sz="2000" dirty="0" err="1"/>
              <a:t>Bayesian</a:t>
            </a:r>
            <a:r>
              <a:rPr lang="nl-NL" sz="2000" dirty="0"/>
              <a:t> ANCOVA.</a:t>
            </a:r>
          </a:p>
          <a:p>
            <a:pPr>
              <a:lnSpc>
                <a:spcPct val="110000"/>
              </a:lnSpc>
            </a:pPr>
            <a:r>
              <a:rPr lang="nl-NL" sz="2000" dirty="0" err="1"/>
              <a:t>Which</a:t>
            </a:r>
            <a:r>
              <a:rPr lang="nl-NL" sz="2000" dirty="0"/>
              <a:t> </a:t>
            </a:r>
            <a:r>
              <a:rPr lang="nl-NL" sz="2000" dirty="0" err="1"/>
              <a:t>predictors</a:t>
            </a:r>
            <a:r>
              <a:rPr lang="nl-NL" sz="2000" dirty="0"/>
              <a:t> are relevant? </a:t>
            </a:r>
            <a:r>
              <a:rPr lang="nl-NL" sz="2000" dirty="0">
                <a:sym typeface="Wingdings" panose="05000000000000000000" pitchFamily="2" charset="2"/>
              </a:rPr>
              <a:t> Multiple </a:t>
            </a:r>
            <a:r>
              <a:rPr lang="nl-NL" sz="2000" dirty="0" err="1">
                <a:sym typeface="Wingdings" panose="05000000000000000000" pitchFamily="2" charset="2"/>
              </a:rPr>
              <a:t>models</a:t>
            </a:r>
            <a:endParaRPr lang="nl-NL" sz="2000" dirty="0">
              <a:sym typeface="Wingdings" panose="05000000000000000000" pitchFamily="2" charset="2"/>
            </a:endParaRPr>
          </a:p>
          <a:p>
            <a:pPr>
              <a:lnSpc>
                <a:spcPct val="110000"/>
              </a:lnSpc>
            </a:pPr>
            <a:r>
              <a:rPr lang="nl-NL" sz="2000" dirty="0">
                <a:sym typeface="Wingdings" panose="05000000000000000000" pitchFamily="2" charset="2"/>
              </a:rPr>
              <a:t>BMA </a:t>
            </a:r>
            <a:r>
              <a:rPr lang="nl-NL" sz="2000" dirty="0" err="1">
                <a:sym typeface="Wingdings" panose="05000000000000000000" pitchFamily="2" charset="2"/>
              </a:rPr>
              <a:t>for</a:t>
            </a:r>
            <a:r>
              <a:rPr lang="nl-NL" sz="2000" dirty="0">
                <a:sym typeface="Wingdings" panose="05000000000000000000" pitchFamily="2" charset="2"/>
              </a:rPr>
              <a:t> </a:t>
            </a:r>
            <a:r>
              <a:rPr lang="nl-NL" sz="2000" dirty="0" err="1">
                <a:sym typeface="Wingdings" panose="05000000000000000000" pitchFamily="2" charset="2"/>
              </a:rPr>
              <a:t>finding</a:t>
            </a:r>
            <a:r>
              <a:rPr lang="nl-NL" sz="2000" dirty="0">
                <a:sym typeface="Wingdings" panose="05000000000000000000" pitchFamily="2" charset="2"/>
              </a:rPr>
              <a:t> </a:t>
            </a:r>
            <a:r>
              <a:rPr lang="nl-NL" sz="2000" dirty="0" err="1">
                <a:sym typeface="Wingdings" panose="05000000000000000000" pitchFamily="2" charset="2"/>
              </a:rPr>
              <a:t>inclusion</a:t>
            </a:r>
            <a:r>
              <a:rPr lang="nl-NL" sz="2000" dirty="0">
                <a:sym typeface="Wingdings" panose="05000000000000000000" pitchFamily="2" charset="2"/>
              </a:rPr>
              <a:t> </a:t>
            </a:r>
            <a:r>
              <a:rPr lang="nl-NL" sz="2000" dirty="0" err="1">
                <a:sym typeface="Wingdings" panose="05000000000000000000" pitchFamily="2" charset="2"/>
              </a:rPr>
              <a:t>probabilities</a:t>
            </a:r>
            <a:r>
              <a:rPr lang="nl-NL" sz="2000" dirty="0">
                <a:sym typeface="Wingdings" panose="05000000000000000000" pitchFamily="2" charset="2"/>
              </a:rPr>
              <a:t> – </a:t>
            </a:r>
            <a:r>
              <a:rPr lang="nl-NL" sz="2000" dirty="0" err="1">
                <a:sym typeface="Wingdings" panose="05000000000000000000" pitchFamily="2" charset="2"/>
              </a:rPr>
              <a:t>how</a:t>
            </a:r>
            <a:r>
              <a:rPr lang="nl-NL" sz="2000" dirty="0">
                <a:sym typeface="Wingdings" panose="05000000000000000000" pitchFamily="2" charset="2"/>
              </a:rPr>
              <a:t> important are these </a:t>
            </a:r>
            <a:r>
              <a:rPr lang="nl-NL" sz="2000" dirty="0" err="1">
                <a:sym typeface="Wingdings" panose="05000000000000000000" pitchFamily="2" charset="2"/>
              </a:rPr>
              <a:t>predictors</a:t>
            </a:r>
            <a:r>
              <a:rPr lang="nl-NL" sz="2000" dirty="0">
                <a:sym typeface="Wingdings" panose="05000000000000000000" pitchFamily="2" charset="2"/>
              </a:rPr>
              <a:t>, </a:t>
            </a:r>
            <a:r>
              <a:rPr lang="nl-NL" sz="2000" dirty="0" err="1">
                <a:sym typeface="Wingdings" panose="05000000000000000000" pitchFamily="2" charset="2"/>
              </a:rPr>
              <a:t>regardless</a:t>
            </a:r>
            <a:r>
              <a:rPr lang="nl-NL" sz="2000" dirty="0">
                <a:sym typeface="Wingdings" panose="05000000000000000000" pitchFamily="2" charset="2"/>
              </a:rPr>
              <a:t> of </a:t>
            </a:r>
            <a:r>
              <a:rPr lang="nl-NL" sz="2000" dirty="0" err="1">
                <a:sym typeface="Wingdings" panose="05000000000000000000" pitchFamily="2" charset="2"/>
              </a:rPr>
              <a:t>specific</a:t>
            </a:r>
            <a:r>
              <a:rPr lang="nl-NL" sz="2000" dirty="0">
                <a:sym typeface="Wingdings" panose="05000000000000000000" pitchFamily="2" charset="2"/>
              </a:rPr>
              <a:t> model </a:t>
            </a:r>
            <a:r>
              <a:rPr lang="nl-NL" sz="2000" dirty="0" err="1">
                <a:sym typeface="Wingdings" panose="05000000000000000000" pitchFamily="2" charset="2"/>
              </a:rPr>
              <a:t>choice</a:t>
            </a:r>
            <a:r>
              <a:rPr lang="nl-NL" sz="2000" dirty="0">
                <a:sym typeface="Wingdings" panose="05000000000000000000" pitchFamily="2" charset="2"/>
              </a:rPr>
              <a:t>?</a:t>
            </a:r>
            <a:endParaRPr lang="nl-NL" sz="1800" dirty="0"/>
          </a:p>
          <a:p>
            <a:pPr marL="0" indent="0">
              <a:lnSpc>
                <a:spcPct val="110000"/>
              </a:lnSpc>
              <a:buNone/>
            </a:pPr>
            <a:endParaRPr lang="nl-NL" sz="1800" dirty="0"/>
          </a:p>
          <a:p>
            <a:pPr>
              <a:lnSpc>
                <a:spcPct val="110000"/>
              </a:lnSpc>
            </a:pPr>
            <a:endParaRPr lang="nl-NL" sz="1800" dirty="0"/>
          </a:p>
          <a:p>
            <a:pPr>
              <a:lnSpc>
                <a:spcPct val="110000"/>
              </a:lnSpc>
            </a:pPr>
            <a:endParaRPr lang="nl-NL" sz="1800" dirty="0"/>
          </a:p>
          <a:p>
            <a:pPr>
              <a:lnSpc>
                <a:spcPct val="110000"/>
              </a:lnSpc>
            </a:pPr>
            <a:endParaRPr lang="nl-NL" sz="1800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6DDC538F-AA94-C1CE-6B85-C0A6119E2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284" y="1506226"/>
            <a:ext cx="7987259" cy="410034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65100" dist="114300" dir="2700000" sx="101000" sy="101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83322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2DB61-BDD5-A510-0357-19003A8C2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469B4-BBCD-B853-E607-5C7EB07BF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very simple example</a:t>
            </a:r>
            <a:endParaRPr lang="nl-NL" u="sng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0D3DB9A9-A6F5-6EF0-B05D-542E8F7B5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916" y="1484951"/>
            <a:ext cx="10781654" cy="4491074"/>
          </a:xfrm>
          <a:prstGeom prst="rect">
            <a:avLst/>
          </a:prstGeom>
        </p:spPr>
      </p:pic>
      <p:sp>
        <p:nvSpPr>
          <p:cNvPr id="9" name="Rechthoek 8">
            <a:extLst>
              <a:ext uri="{FF2B5EF4-FFF2-40B4-BE49-F238E27FC236}">
                <a16:creationId xmlns:a16="http://schemas.microsoft.com/office/drawing/2014/main" id="{A1869EDB-DE4E-32EE-F1FB-69A0A9B4025A}"/>
              </a:ext>
            </a:extLst>
          </p:cNvPr>
          <p:cNvSpPr/>
          <p:nvPr/>
        </p:nvSpPr>
        <p:spPr>
          <a:xfrm>
            <a:off x="838200" y="2200759"/>
            <a:ext cx="10515600" cy="10926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62004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D8390-D1A3-11D3-728B-B8EE90A39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1EA29-1E7D-771C-1C53-02BDDD602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very simple example</a:t>
            </a:r>
            <a:endParaRPr lang="nl-NL" u="sng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F0B5A512-9DC1-1CE2-CB10-F326D26C7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803" y="1506763"/>
            <a:ext cx="8113282" cy="249453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AB8873-59B1-CE5C-1E14-2264258A2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38785"/>
            <a:ext cx="10515600" cy="193817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nl-NL" sz="2000" dirty="0" err="1"/>
              <a:t>Inclusion</a:t>
            </a:r>
            <a:r>
              <a:rPr lang="nl-NL" sz="2000" dirty="0"/>
              <a:t> Bayes factors </a:t>
            </a:r>
            <a:r>
              <a:rPr lang="nl-NL" sz="2000" dirty="0" err="1"/>
              <a:t>tell</a:t>
            </a:r>
            <a:r>
              <a:rPr lang="nl-NL" sz="2000" dirty="0"/>
              <a:t> </a:t>
            </a:r>
            <a:r>
              <a:rPr lang="nl-NL" sz="2000" dirty="0" err="1"/>
              <a:t>us</a:t>
            </a:r>
            <a:r>
              <a:rPr lang="nl-NL" sz="2000" dirty="0"/>
              <a:t> </a:t>
            </a:r>
            <a:r>
              <a:rPr lang="nl-NL" sz="2000" dirty="0" err="1"/>
              <a:t>much</a:t>
            </a:r>
            <a:r>
              <a:rPr lang="nl-NL" sz="2000" dirty="0"/>
              <a:t> more </a:t>
            </a:r>
            <a:r>
              <a:rPr lang="nl-NL" sz="2000" dirty="0" err="1"/>
              <a:t>than</a:t>
            </a:r>
            <a:r>
              <a:rPr lang="nl-NL" sz="2000" dirty="0"/>
              <a:t> </a:t>
            </a:r>
            <a:r>
              <a:rPr lang="nl-NL" sz="2000" dirty="0" err="1"/>
              <a:t>if</a:t>
            </a:r>
            <a:r>
              <a:rPr lang="nl-NL" sz="2000" dirty="0"/>
              <a:t> we had </a:t>
            </a:r>
            <a:r>
              <a:rPr lang="nl-NL" sz="2000" dirty="0" err="1"/>
              <a:t>selected</a:t>
            </a:r>
            <a:r>
              <a:rPr lang="nl-NL" sz="2000" dirty="0"/>
              <a:t> </a:t>
            </a:r>
            <a:r>
              <a:rPr lang="nl-NL" sz="2000" dirty="0" err="1"/>
              <a:t>one</a:t>
            </a:r>
            <a:r>
              <a:rPr lang="nl-NL" sz="2000" dirty="0"/>
              <a:t> ‘best’ model.</a:t>
            </a:r>
          </a:p>
          <a:p>
            <a:pPr>
              <a:lnSpc>
                <a:spcPct val="110000"/>
              </a:lnSpc>
            </a:pPr>
            <a:r>
              <a:rPr lang="nl-NL" sz="2000" dirty="0"/>
              <a:t>More on </a:t>
            </a:r>
            <a:r>
              <a:rPr lang="nl-NL" sz="2000" dirty="0" err="1"/>
              <a:t>this</a:t>
            </a:r>
            <a:r>
              <a:rPr lang="nl-NL" sz="2000" dirty="0"/>
              <a:t> in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practice</a:t>
            </a:r>
            <a:r>
              <a:rPr lang="nl-NL" sz="2000" dirty="0"/>
              <a:t> </a:t>
            </a:r>
            <a:r>
              <a:rPr lang="nl-NL" sz="2000" dirty="0" err="1"/>
              <a:t>material</a:t>
            </a:r>
            <a:r>
              <a:rPr lang="nl-NL" sz="2000" dirty="0"/>
              <a:t> later!</a:t>
            </a:r>
            <a:endParaRPr lang="nl-NL" sz="1800" dirty="0"/>
          </a:p>
          <a:p>
            <a:pPr>
              <a:lnSpc>
                <a:spcPct val="110000"/>
              </a:lnSpc>
            </a:pPr>
            <a:endParaRPr lang="nl-NL" sz="1800" dirty="0"/>
          </a:p>
          <a:p>
            <a:pPr>
              <a:lnSpc>
                <a:spcPct val="110000"/>
              </a:lnSpc>
            </a:pPr>
            <a:endParaRPr lang="nl-NL" sz="1800" dirty="0"/>
          </a:p>
          <a:p>
            <a:pPr>
              <a:lnSpc>
                <a:spcPct val="110000"/>
              </a:lnSpc>
            </a:pPr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2077859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43FC74-C387-A90F-8704-283022702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Part II: The </a:t>
            </a:r>
            <a:r>
              <a:rPr lang="nl-NL" dirty="0" err="1"/>
              <a:t>pragmatic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6FD180F-177A-B9A2-5E73-C443EF07A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And</a:t>
            </a:r>
            <a:r>
              <a:rPr lang="nl-NL" dirty="0"/>
              <a:t> a </a:t>
            </a:r>
            <a:r>
              <a:rPr lang="nl-NL" dirty="0" err="1"/>
              <a:t>whole</a:t>
            </a:r>
            <a:r>
              <a:rPr lang="nl-NL" dirty="0"/>
              <a:t> lot of code</a:t>
            </a:r>
          </a:p>
        </p:txBody>
      </p:sp>
    </p:spTree>
    <p:extLst>
      <p:ext uri="{BB962C8B-B14F-4D97-AF65-F5344CB8AC3E}">
        <p14:creationId xmlns:p14="http://schemas.microsoft.com/office/powerpoint/2010/main" val="2380125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EA33C-E9D1-499B-4A9C-DC191F4BB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A25FD-1A28-4C85-03AC-F64E6F82D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challenges for BMA</a:t>
            </a:r>
            <a:endParaRPr lang="nl-NL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5D58C0-04BA-1019-7102-8FA7A566BA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nl-NL" sz="1800" dirty="0"/>
                  <a:t>The </a:t>
                </a:r>
                <a:r>
                  <a:rPr lang="nl-NL" sz="1800" dirty="0" err="1"/>
                  <a:t>math</a:t>
                </a:r>
                <a:r>
                  <a:rPr lang="nl-NL" sz="1800" dirty="0"/>
                  <a:t> is </a:t>
                </a:r>
                <a:r>
                  <a:rPr lang="nl-NL" sz="1800" dirty="0" err="1"/>
                  <a:t>straightforward</a:t>
                </a:r>
                <a:r>
                  <a:rPr lang="nl-NL" sz="1800" dirty="0"/>
                  <a:t> – </a:t>
                </a:r>
                <a:r>
                  <a:rPr lang="nl-NL" sz="1800" dirty="0" err="1"/>
                  <a:t>if</a:t>
                </a:r>
                <a:r>
                  <a:rPr lang="nl-NL" sz="1800" dirty="0"/>
                  <a:t> we have </a:t>
                </a:r>
                <a:r>
                  <a:rPr lang="nl-NL" sz="1800" dirty="0" err="1"/>
                  <a:t>PMPs</a:t>
                </a:r>
                <a:r>
                  <a:rPr lang="nl-NL" sz="1800" dirty="0"/>
                  <a:t>*, </a:t>
                </a:r>
                <a:r>
                  <a:rPr lang="nl-NL" sz="1800" dirty="0" err="1"/>
                  <a:t>then</a:t>
                </a:r>
                <a:r>
                  <a:rPr lang="nl-NL" sz="1800" dirty="0"/>
                  <a:t> we </a:t>
                </a:r>
                <a:r>
                  <a:rPr lang="nl-NL" sz="1800" dirty="0" err="1"/>
                  <a:t>can</a:t>
                </a:r>
                <a:r>
                  <a:rPr lang="nl-NL" sz="1800" dirty="0"/>
                  <a:t> do BMA.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sepChr m:val="∣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</m:e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sepChr m:val="∣"/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𝒟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ℳ</m:t>
                              </m:r>
                            </m:e>
                          </m:d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𝒟</m:t>
                              </m:r>
                            </m:e>
                          </m:d>
                        </m:den>
                      </m:f>
                      <m:r>
                        <a:rPr lang="nl-NL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sepChr m:val="∣"/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𝒟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ℳ</m:t>
                              </m:r>
                            </m:e>
                          </m:d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nl-NL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nl-NL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nl-NL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ℳ</m:t>
                              </m:r>
                            </m:sub>
                            <m:sup/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sepChr m:val="∣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𝒟</m:t>
                                  </m:r>
                                </m:e>
                                <m:e>
                                  <m:r>
                                    <a:rPr lang="nl-NL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</m:d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nl-NL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nl-NL" sz="1800" dirty="0"/>
              </a:p>
              <a:p>
                <a:pPr>
                  <a:lnSpc>
                    <a:spcPct val="110000"/>
                  </a:lnSpc>
                </a:pPr>
                <a:r>
                  <a:rPr lang="nl-NL" sz="1800" dirty="0"/>
                  <a:t>The model prior </a:t>
                </a:r>
                <a14:m>
                  <m:oMath xmlns:m="http://schemas.openxmlformats.org/officeDocument/2006/math">
                    <m:r>
                      <a:rPr lang="nl-NL" sz="18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nl-NL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</m:d>
                  </m:oMath>
                </a14:m>
                <a:r>
                  <a:rPr lang="nl-NL" sz="1800" dirty="0"/>
                  <a:t> is </a:t>
                </a:r>
                <a:r>
                  <a:rPr lang="nl-NL" sz="1800" dirty="0" err="1"/>
                  <a:t>often</a:t>
                </a:r>
                <a:r>
                  <a:rPr lang="nl-NL" sz="1800" dirty="0"/>
                  <a:t> uniform or </a:t>
                </a:r>
                <a:r>
                  <a:rPr lang="nl-NL" sz="1800" dirty="0" err="1"/>
                  <a:t>otherwise</a:t>
                </a:r>
                <a:r>
                  <a:rPr lang="nl-NL" sz="1800" dirty="0"/>
                  <a:t> </a:t>
                </a:r>
                <a:r>
                  <a:rPr lang="nl-NL" sz="1800" dirty="0" err="1"/>
                  <a:t>simple</a:t>
                </a:r>
                <a:r>
                  <a:rPr lang="nl-NL" sz="1800" dirty="0"/>
                  <a:t>.</a:t>
                </a:r>
              </a:p>
              <a:p>
                <a:pPr>
                  <a:lnSpc>
                    <a:spcPct val="110000"/>
                  </a:lnSpc>
                </a:pPr>
                <a:r>
                  <a:rPr lang="nl-NL" sz="1800" dirty="0" err="1"/>
                  <a:t>What</a:t>
                </a:r>
                <a:r>
                  <a:rPr lang="nl-NL" sz="1800" dirty="0"/>
                  <a:t> </a:t>
                </a:r>
                <a:r>
                  <a:rPr lang="nl-NL" sz="1800" dirty="0" err="1"/>
                  <a:t>about</a:t>
                </a:r>
                <a:r>
                  <a:rPr lang="nl-NL" sz="1800" dirty="0"/>
                  <a:t> </a:t>
                </a:r>
                <a14:m>
                  <m:oMath xmlns:m="http://schemas.openxmlformats.org/officeDocument/2006/math">
                    <m:r>
                      <a:rPr lang="nl-NL" sz="18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sepChr m:val="∣"/>
                        <m:ctrlPr>
                          <a:rPr lang="nl-NL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e>
                      <m:e>
                        <m:r>
                          <a:rPr lang="nl-NL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</m:d>
                  </m:oMath>
                </a14:m>
                <a:r>
                  <a:rPr lang="nl-NL" sz="1800" dirty="0"/>
                  <a:t>?</a:t>
                </a:r>
              </a:p>
              <a:p>
                <a:pPr>
                  <a:lnSpc>
                    <a:spcPct val="110000"/>
                  </a:lnSpc>
                </a:pPr>
                <a:r>
                  <a:rPr lang="nl-NL" sz="1800" dirty="0" err="1"/>
                  <a:t>This</a:t>
                </a:r>
                <a:r>
                  <a:rPr lang="nl-NL" sz="1800" dirty="0"/>
                  <a:t> is </a:t>
                </a:r>
                <a:r>
                  <a:rPr lang="nl-NL" sz="1800" dirty="0" err="1"/>
                  <a:t>the</a:t>
                </a:r>
                <a:r>
                  <a:rPr lang="nl-NL" sz="1800" dirty="0"/>
                  <a:t> model </a:t>
                </a:r>
                <a:r>
                  <a:rPr lang="nl-NL" sz="1800" dirty="0" err="1"/>
                  <a:t>marginal</a:t>
                </a:r>
                <a:r>
                  <a:rPr lang="nl-NL" sz="1800" dirty="0"/>
                  <a:t> </a:t>
                </a:r>
                <a:r>
                  <a:rPr lang="nl-NL" sz="1800" dirty="0" err="1"/>
                  <a:t>likelihood</a:t>
                </a:r>
                <a:r>
                  <a:rPr lang="nl-NL" sz="1800" dirty="0"/>
                  <a:t>: </a:t>
                </a:r>
                <a:endParaRPr lang="nl-NL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1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sepChr m:val="∣"/>
                          <m:ctrlPr>
                            <a:rPr lang="nl-NL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  <m:e>
                          <m:r>
                            <a:rPr lang="nl-N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</m:e>
                      </m:d>
                      <m:r>
                        <a:rPr lang="nl-NL" sz="1800" b="0" i="1" smtClean="0">
                          <a:latin typeface="Cambria Math" panose="02040503050406030204" pitchFamily="18" charset="0"/>
                        </a:rPr>
                        <m:t>=∫</m:t>
                      </m:r>
                      <m:r>
                        <a:rPr lang="nl-NL" sz="1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sepChr m:val="∣"/>
                          <m:ctrlPr>
                            <a:rPr lang="nl-NL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  <m:e>
                          <m:r>
                            <a:rPr lang="nl-N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nl-N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nl-N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</m:e>
                      </m:d>
                      <m:r>
                        <a:rPr lang="nl-NL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sepChr m:val="∣"/>
                          <m:ctrlPr>
                            <a:rPr lang="nl-N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nl-NL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</m:e>
                      </m:d>
                      <m:r>
                        <a:rPr lang="nl-NL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nl-NL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nl-NL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nl-NL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nl-NL" sz="1800" dirty="0"/>
              </a:p>
              <a:p>
                <a:pPr>
                  <a:lnSpc>
                    <a:spcPct val="110000"/>
                  </a:lnSpc>
                </a:pPr>
                <a:r>
                  <a:rPr lang="nl-NL" sz="1800" dirty="0"/>
                  <a:t>Here, </a:t>
                </a:r>
                <a14:m>
                  <m:oMath xmlns:m="http://schemas.openxmlformats.org/officeDocument/2006/math">
                    <m:r>
                      <a:rPr lang="nl-NL" sz="18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nl-NL" sz="1800" dirty="0"/>
                  <a:t> </a:t>
                </a:r>
                <a:r>
                  <a:rPr lang="nl-NL" sz="1800" dirty="0" err="1"/>
                  <a:t>represents</a:t>
                </a:r>
                <a:r>
                  <a:rPr lang="nl-NL" sz="1800" dirty="0"/>
                  <a:t> </a:t>
                </a:r>
                <a:r>
                  <a:rPr lang="nl-NL" sz="1800" dirty="0" err="1"/>
                  <a:t>the</a:t>
                </a:r>
                <a:r>
                  <a:rPr lang="nl-NL" sz="1800" dirty="0"/>
                  <a:t> </a:t>
                </a:r>
                <a:r>
                  <a:rPr lang="nl-NL" sz="1800" dirty="0" err="1"/>
                  <a:t>unknown</a:t>
                </a:r>
                <a:r>
                  <a:rPr lang="nl-NL" sz="1800" dirty="0"/>
                  <a:t> parameters of a model </a:t>
                </a:r>
                <a14:m>
                  <m:oMath xmlns:m="http://schemas.openxmlformats.org/officeDocument/2006/math">
                    <m:r>
                      <a:rPr lang="nl-NL" sz="1800" b="0" i="1" smtClean="0">
                        <a:latin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nl-NL" sz="1800" dirty="0"/>
                  <a:t>. </a:t>
                </a:r>
                <a:r>
                  <a:rPr lang="nl-NL" sz="1800" dirty="0" err="1"/>
                  <a:t>This</a:t>
                </a:r>
                <a:r>
                  <a:rPr lang="nl-NL" sz="1800" dirty="0"/>
                  <a:t> </a:t>
                </a:r>
                <a:r>
                  <a:rPr lang="nl-NL" sz="1800" dirty="0" err="1"/>
                  <a:t>can</a:t>
                </a:r>
                <a:r>
                  <a:rPr lang="nl-NL" sz="1800" dirty="0"/>
                  <a:t> </a:t>
                </a:r>
                <a:r>
                  <a:rPr lang="nl-NL" sz="1800" dirty="0" err="1"/>
                  <a:t>be</a:t>
                </a:r>
                <a:r>
                  <a:rPr lang="nl-NL" sz="1800" dirty="0"/>
                  <a:t> high-</a:t>
                </a:r>
                <a:r>
                  <a:rPr lang="nl-NL" sz="1800" dirty="0" err="1"/>
                  <a:t>dimensional</a:t>
                </a:r>
                <a:r>
                  <a:rPr lang="nl-NL" sz="1800" dirty="0"/>
                  <a:t>.</a:t>
                </a:r>
              </a:p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nl-NL" sz="1800" b="1" dirty="0"/>
                  <a:t>The </a:t>
                </a:r>
                <a:r>
                  <a:rPr lang="nl-NL" sz="1800" b="1" dirty="0" err="1"/>
                  <a:t>marginal</a:t>
                </a:r>
                <a:r>
                  <a:rPr lang="nl-NL" sz="1800" b="1" dirty="0"/>
                  <a:t> </a:t>
                </a:r>
                <a:r>
                  <a:rPr lang="nl-NL" sz="1800" b="1" dirty="0" err="1"/>
                  <a:t>likelihood</a:t>
                </a:r>
                <a:r>
                  <a:rPr lang="nl-NL" sz="1800" b="1" dirty="0"/>
                  <a:t> is </a:t>
                </a:r>
                <a:r>
                  <a:rPr lang="nl-NL" sz="1800" b="1" dirty="0" err="1"/>
                  <a:t>very</a:t>
                </a:r>
                <a:r>
                  <a:rPr lang="nl-NL" sz="1800" b="1" dirty="0"/>
                  <a:t> </a:t>
                </a:r>
                <a:r>
                  <a:rPr lang="nl-NL" sz="1800" b="1" dirty="0" err="1"/>
                  <a:t>challenging</a:t>
                </a:r>
                <a:r>
                  <a:rPr lang="nl-NL" sz="1800" b="1" dirty="0"/>
                  <a:t> </a:t>
                </a:r>
                <a:r>
                  <a:rPr lang="nl-NL" sz="1800" b="1" dirty="0" err="1"/>
                  <a:t>to</a:t>
                </a:r>
                <a:r>
                  <a:rPr lang="nl-NL" sz="1800" b="1" dirty="0"/>
                  <a:t> </a:t>
                </a:r>
                <a:r>
                  <a:rPr lang="nl-NL" sz="1800" b="1" dirty="0" err="1"/>
                  <a:t>estimate</a:t>
                </a:r>
                <a:r>
                  <a:rPr lang="nl-NL" sz="1800" b="1" dirty="0"/>
                  <a:t>!</a:t>
                </a:r>
              </a:p>
              <a:p>
                <a:pPr>
                  <a:lnSpc>
                    <a:spcPct val="110000"/>
                  </a:lnSpc>
                </a:pPr>
                <a:endParaRPr lang="nl-NL" sz="1800" b="1" dirty="0"/>
              </a:p>
              <a:p>
                <a:pPr>
                  <a:lnSpc>
                    <a:spcPct val="110000"/>
                  </a:lnSpc>
                </a:pPr>
                <a:r>
                  <a:rPr lang="nl-NL" sz="1800" b="1" dirty="0"/>
                  <a:t>Oh noes!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5D58C0-04BA-1019-7102-8FA7A566BA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280" b="-224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kstvak 3">
            <a:extLst>
              <a:ext uri="{FF2B5EF4-FFF2-40B4-BE49-F238E27FC236}">
                <a16:creationId xmlns:a16="http://schemas.microsoft.com/office/drawing/2014/main" id="{7317FDC2-1950-069D-F3D7-1B3AFBC3C5D4}"/>
              </a:ext>
            </a:extLst>
          </p:cNvPr>
          <p:cNvSpPr txBox="1"/>
          <p:nvPr/>
        </p:nvSpPr>
        <p:spPr>
          <a:xfrm>
            <a:off x="9509760" y="6492875"/>
            <a:ext cx="2604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*: posterior model </a:t>
            </a:r>
            <a:r>
              <a:rPr lang="nl-NL" sz="1400" dirty="0" err="1"/>
              <a:t>probabilities</a:t>
            </a:r>
            <a:endParaRPr lang="nl-NL" sz="1400" dirty="0"/>
          </a:p>
        </p:txBody>
      </p:sp>
      <p:pic>
        <p:nvPicPr>
          <p:cNvPr id="1026" name="Picture 2" descr="Sad Cat Meme Sticker | Key, | Covering &amp; Personalizing| No Bubble, Slim,  Waterproof Cover (Anime2) : Amazon.ca: Office Products">
            <a:extLst>
              <a:ext uri="{FF2B5EF4-FFF2-40B4-BE49-F238E27FC236}">
                <a16:creationId xmlns:a16="http://schemas.microsoft.com/office/drawing/2014/main" id="{94EAAA3B-ECF2-D7B1-C22B-674825F80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8434" y="32548"/>
            <a:ext cx="3189427" cy="1990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1773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266F9-0968-709A-1577-0617AAC92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F836-51F5-5593-AA93-7726495A3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BMA in Python using JAX &amp; </a:t>
            </a:r>
            <a:r>
              <a:rPr lang="en-US" dirty="0" err="1"/>
              <a:t>bamojax</a:t>
            </a:r>
            <a:endParaRPr lang="nl-NL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EB649-B4B5-5228-623F-FBEBEADC6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nl-NL" sz="1800" dirty="0"/>
              <a:t>For different </a:t>
            </a:r>
            <a:r>
              <a:rPr lang="nl-NL" sz="1800" dirty="0" err="1"/>
              <a:t>specific</a:t>
            </a:r>
            <a:r>
              <a:rPr lang="nl-NL" sz="1800" dirty="0"/>
              <a:t> model sets (</a:t>
            </a:r>
            <a:r>
              <a:rPr lang="nl-NL" sz="1800" dirty="0" err="1"/>
              <a:t>linear</a:t>
            </a:r>
            <a:r>
              <a:rPr lang="nl-NL" sz="1800" dirty="0"/>
              <a:t> </a:t>
            </a:r>
            <a:r>
              <a:rPr lang="nl-NL" sz="1800" dirty="0" err="1"/>
              <a:t>models</a:t>
            </a:r>
            <a:r>
              <a:rPr lang="nl-NL" sz="1800" dirty="0"/>
              <a:t>, </a:t>
            </a:r>
            <a:r>
              <a:rPr lang="nl-NL" sz="1800" dirty="0" err="1"/>
              <a:t>Gaussian</a:t>
            </a:r>
            <a:r>
              <a:rPr lang="nl-NL" sz="1800" dirty="0"/>
              <a:t> </a:t>
            </a:r>
            <a:r>
              <a:rPr lang="nl-NL" sz="1800" dirty="0" err="1"/>
              <a:t>graphical</a:t>
            </a:r>
            <a:r>
              <a:rPr lang="nl-NL" sz="1800" dirty="0"/>
              <a:t> </a:t>
            </a:r>
            <a:r>
              <a:rPr lang="nl-NL" sz="1800" dirty="0" err="1"/>
              <a:t>models</a:t>
            </a:r>
            <a:r>
              <a:rPr lang="nl-NL" sz="1800" dirty="0"/>
              <a:t>), BMA tools are </a:t>
            </a:r>
            <a:r>
              <a:rPr lang="nl-NL" sz="1800" dirty="0" err="1"/>
              <a:t>readily</a:t>
            </a:r>
            <a:r>
              <a:rPr lang="nl-NL" sz="1800" dirty="0"/>
              <a:t> </a:t>
            </a:r>
            <a:r>
              <a:rPr lang="nl-NL" sz="1800" dirty="0" err="1"/>
              <a:t>available</a:t>
            </a:r>
            <a:r>
              <a:rPr lang="nl-NL" sz="1800" dirty="0"/>
              <a:t>.</a:t>
            </a:r>
          </a:p>
          <a:p>
            <a:pPr>
              <a:lnSpc>
                <a:spcPct val="110000"/>
              </a:lnSpc>
            </a:pPr>
            <a:r>
              <a:rPr lang="nl-NL" sz="1800" dirty="0" err="1"/>
              <a:t>There</a:t>
            </a:r>
            <a:r>
              <a:rPr lang="nl-NL" sz="1800" dirty="0"/>
              <a:t> is no </a:t>
            </a:r>
            <a:r>
              <a:rPr lang="nl-NL" sz="1800" dirty="0" err="1"/>
              <a:t>generic</a:t>
            </a:r>
            <a:r>
              <a:rPr lang="nl-NL" sz="1800" dirty="0"/>
              <a:t> </a:t>
            </a:r>
            <a:r>
              <a:rPr lang="nl-NL" sz="1800" dirty="0" err="1"/>
              <a:t>toolbox</a:t>
            </a:r>
            <a:r>
              <a:rPr lang="nl-NL" sz="1800" dirty="0"/>
              <a:t> </a:t>
            </a:r>
            <a:r>
              <a:rPr lang="nl-NL" sz="1800" dirty="0" err="1"/>
              <a:t>that</a:t>
            </a:r>
            <a:r>
              <a:rPr lang="nl-NL" sz="1800" dirty="0"/>
              <a:t> </a:t>
            </a:r>
            <a:r>
              <a:rPr lang="nl-NL" sz="1800" dirty="0" err="1"/>
              <a:t>always</a:t>
            </a:r>
            <a:r>
              <a:rPr lang="nl-NL" sz="1800" dirty="0"/>
              <a:t> </a:t>
            </a:r>
            <a:r>
              <a:rPr lang="nl-NL" sz="1800" dirty="0" err="1"/>
              <a:t>works</a:t>
            </a:r>
            <a:r>
              <a:rPr lang="nl-NL" sz="1800" dirty="0"/>
              <a:t>.</a:t>
            </a:r>
          </a:p>
          <a:p>
            <a:pPr>
              <a:lnSpc>
                <a:spcPct val="110000"/>
              </a:lnSpc>
            </a:pPr>
            <a:r>
              <a:rPr lang="nl-NL" sz="1800" dirty="0" err="1"/>
              <a:t>If</a:t>
            </a:r>
            <a:r>
              <a:rPr lang="nl-NL" sz="1800" dirty="0"/>
              <a:t> no </a:t>
            </a:r>
            <a:r>
              <a:rPr lang="nl-NL" sz="1800" dirty="0" err="1"/>
              <a:t>better</a:t>
            </a:r>
            <a:r>
              <a:rPr lang="nl-NL" sz="1800" dirty="0"/>
              <a:t> </a:t>
            </a:r>
            <a:r>
              <a:rPr lang="nl-NL" sz="1800" dirty="0" err="1"/>
              <a:t>solutions</a:t>
            </a:r>
            <a:r>
              <a:rPr lang="nl-NL" sz="1800" dirty="0"/>
              <a:t> </a:t>
            </a:r>
            <a:r>
              <a:rPr lang="nl-NL" sz="1800" dirty="0" err="1"/>
              <a:t>exist</a:t>
            </a:r>
            <a:r>
              <a:rPr lang="nl-NL" sz="1800" dirty="0"/>
              <a:t>, we </a:t>
            </a:r>
            <a:r>
              <a:rPr lang="nl-NL" sz="1800" b="1" dirty="0" err="1"/>
              <a:t>approximate</a:t>
            </a:r>
            <a:r>
              <a:rPr lang="nl-NL" sz="1800" b="1" dirty="0"/>
              <a:t> </a:t>
            </a:r>
            <a:r>
              <a:rPr lang="nl-NL" sz="1800" b="1" dirty="0" err="1"/>
              <a:t>the</a:t>
            </a:r>
            <a:r>
              <a:rPr lang="nl-NL" sz="1800" b="1" dirty="0"/>
              <a:t> </a:t>
            </a:r>
            <a:r>
              <a:rPr lang="nl-NL" sz="1800" b="1" dirty="0" err="1"/>
              <a:t>marginal</a:t>
            </a:r>
            <a:r>
              <a:rPr lang="nl-NL" sz="1800" b="1" dirty="0"/>
              <a:t> </a:t>
            </a:r>
            <a:r>
              <a:rPr lang="nl-NL" sz="1800" b="1" dirty="0" err="1"/>
              <a:t>likelihood</a:t>
            </a:r>
            <a:r>
              <a:rPr lang="nl-NL" sz="1800" b="1" dirty="0"/>
              <a:t> </a:t>
            </a:r>
            <a:r>
              <a:rPr lang="nl-NL" sz="1800" dirty="0" err="1"/>
              <a:t>for</a:t>
            </a:r>
            <a:r>
              <a:rPr lang="nl-NL" sz="1800" dirty="0"/>
              <a:t> </a:t>
            </a:r>
            <a:r>
              <a:rPr lang="nl-NL" sz="1800" dirty="0" err="1"/>
              <a:t>each</a:t>
            </a:r>
            <a:r>
              <a:rPr lang="nl-NL" sz="1800" dirty="0"/>
              <a:t> model.</a:t>
            </a:r>
          </a:p>
          <a:p>
            <a:pPr>
              <a:lnSpc>
                <a:spcPct val="110000"/>
              </a:lnSpc>
            </a:pPr>
            <a:r>
              <a:rPr lang="nl-NL" sz="1800" dirty="0" err="1"/>
              <a:t>Today</a:t>
            </a:r>
            <a:r>
              <a:rPr lang="nl-NL" sz="1800" dirty="0"/>
              <a:t> </a:t>
            </a:r>
            <a:r>
              <a:rPr lang="nl-NL" sz="1800" dirty="0" err="1"/>
              <a:t>we’ll</a:t>
            </a:r>
            <a:r>
              <a:rPr lang="nl-NL" sz="1800" dirty="0"/>
              <a:t> </a:t>
            </a:r>
            <a:r>
              <a:rPr lang="nl-NL" sz="1800" dirty="0" err="1"/>
              <a:t>explore</a:t>
            </a:r>
            <a:r>
              <a:rPr lang="nl-NL" sz="1800" dirty="0"/>
              <a:t> </a:t>
            </a:r>
            <a:r>
              <a:rPr lang="nl-NL" sz="1800" dirty="0" err="1"/>
              <a:t>one</a:t>
            </a:r>
            <a:r>
              <a:rPr lang="nl-NL" sz="1800" dirty="0"/>
              <a:t> </a:t>
            </a:r>
            <a:r>
              <a:rPr lang="nl-NL" sz="1800" dirty="0" err="1"/>
              <a:t>framework</a:t>
            </a:r>
            <a:r>
              <a:rPr lang="nl-NL" sz="1800" dirty="0"/>
              <a:t> </a:t>
            </a:r>
            <a:r>
              <a:rPr lang="nl-NL" sz="1800" dirty="0" err="1"/>
              <a:t>to</a:t>
            </a:r>
            <a:r>
              <a:rPr lang="nl-NL" sz="1800" dirty="0"/>
              <a:t> do </a:t>
            </a:r>
            <a:r>
              <a:rPr lang="nl-NL" sz="1800" dirty="0" err="1"/>
              <a:t>so</a:t>
            </a:r>
            <a:r>
              <a:rPr lang="nl-NL" sz="1800" dirty="0"/>
              <a:t>: </a:t>
            </a:r>
            <a:r>
              <a:rPr lang="nl-NL" sz="1800" dirty="0" err="1">
                <a:hlinkClick r:id="rId2"/>
              </a:rPr>
              <a:t>bamojax</a:t>
            </a:r>
            <a:r>
              <a:rPr lang="nl-NL" sz="1800" dirty="0"/>
              <a:t> (</a:t>
            </a:r>
            <a:r>
              <a:rPr lang="nl-NL" sz="1800" dirty="0">
                <a:hlinkClick r:id="rId3"/>
              </a:rPr>
              <a:t>Hinne, 2025; JOSS</a:t>
            </a:r>
            <a:r>
              <a:rPr lang="nl-NL" sz="1800" dirty="0"/>
              <a:t>)</a:t>
            </a:r>
          </a:p>
          <a:p>
            <a:pPr>
              <a:lnSpc>
                <a:spcPct val="110000"/>
              </a:lnSpc>
            </a:pPr>
            <a:r>
              <a:rPr lang="nl-NL" sz="1800" dirty="0" err="1"/>
              <a:t>Bamojax</a:t>
            </a:r>
            <a:r>
              <a:rPr lang="nl-NL" sz="1800" dirty="0"/>
              <a:t> </a:t>
            </a:r>
            <a:r>
              <a:rPr lang="nl-NL" sz="1800" dirty="0" err="1"/>
              <a:t>uses</a:t>
            </a:r>
            <a:r>
              <a:rPr lang="nl-NL" sz="1800" dirty="0"/>
              <a:t> </a:t>
            </a:r>
            <a:r>
              <a:rPr lang="nl-NL" sz="1800" dirty="0" err="1"/>
              <a:t>the</a:t>
            </a:r>
            <a:r>
              <a:rPr lang="nl-NL" sz="1800" dirty="0"/>
              <a:t> Python JAX </a:t>
            </a:r>
            <a:r>
              <a:rPr lang="nl-NL" sz="1800" dirty="0" err="1"/>
              <a:t>framework</a:t>
            </a:r>
            <a:r>
              <a:rPr lang="nl-NL" sz="1800" dirty="0"/>
              <a:t> </a:t>
            </a:r>
            <a:r>
              <a:rPr lang="nl-NL" sz="1800" dirty="0" err="1"/>
              <a:t>by</a:t>
            </a:r>
            <a:r>
              <a:rPr lang="nl-NL" sz="1800" dirty="0"/>
              <a:t> Google </a:t>
            </a:r>
            <a:r>
              <a:rPr lang="nl-NL" sz="1800" dirty="0" err="1"/>
              <a:t>Deepmind</a:t>
            </a:r>
            <a:r>
              <a:rPr lang="nl-NL" sz="1800" dirty="0"/>
              <a:t> </a:t>
            </a:r>
            <a:r>
              <a:rPr lang="nl-NL" sz="1800" dirty="0" err="1"/>
              <a:t>for</a:t>
            </a:r>
            <a:r>
              <a:rPr lang="nl-NL" sz="1800" dirty="0"/>
              <a:t> </a:t>
            </a:r>
            <a:r>
              <a:rPr lang="nl-NL" sz="1800" dirty="0" err="1"/>
              <a:t>fast</a:t>
            </a:r>
            <a:r>
              <a:rPr lang="nl-NL" sz="1800" dirty="0"/>
              <a:t> </a:t>
            </a:r>
            <a:r>
              <a:rPr lang="nl-NL" sz="1800" dirty="0" err="1"/>
              <a:t>and</a:t>
            </a:r>
            <a:r>
              <a:rPr lang="nl-NL" sz="1800" dirty="0"/>
              <a:t> GPU-</a:t>
            </a:r>
            <a:r>
              <a:rPr lang="nl-NL" sz="1800" dirty="0" err="1"/>
              <a:t>able</a:t>
            </a:r>
            <a:r>
              <a:rPr lang="nl-NL" sz="1800" dirty="0"/>
              <a:t> code.</a:t>
            </a:r>
          </a:p>
          <a:p>
            <a:pPr>
              <a:lnSpc>
                <a:spcPct val="110000"/>
              </a:lnSpc>
            </a:pPr>
            <a:r>
              <a:rPr lang="nl-NL" sz="1800" dirty="0"/>
              <a:t>It </a:t>
            </a:r>
            <a:r>
              <a:rPr lang="nl-NL" sz="1800" dirty="0" err="1"/>
              <a:t>implements</a:t>
            </a:r>
            <a:r>
              <a:rPr lang="nl-NL" sz="1800" dirty="0"/>
              <a:t>:</a:t>
            </a:r>
          </a:p>
          <a:p>
            <a:pPr lvl="1">
              <a:lnSpc>
                <a:spcPct val="110000"/>
              </a:lnSpc>
            </a:pPr>
            <a:r>
              <a:rPr lang="nl-NL" sz="1400" dirty="0" err="1"/>
              <a:t>Importance</a:t>
            </a:r>
            <a:r>
              <a:rPr lang="nl-NL" sz="1400" dirty="0"/>
              <a:t> sampling</a:t>
            </a:r>
          </a:p>
          <a:p>
            <a:pPr lvl="1">
              <a:lnSpc>
                <a:spcPct val="110000"/>
              </a:lnSpc>
            </a:pPr>
            <a:r>
              <a:rPr lang="nl-NL" sz="1400" dirty="0"/>
              <a:t>The Laplace </a:t>
            </a:r>
            <a:r>
              <a:rPr lang="nl-NL" sz="1400" dirty="0" err="1"/>
              <a:t>approximation</a:t>
            </a:r>
            <a:endParaRPr lang="nl-NL" sz="1400" dirty="0"/>
          </a:p>
          <a:p>
            <a:pPr lvl="1">
              <a:lnSpc>
                <a:spcPct val="110000"/>
              </a:lnSpc>
            </a:pPr>
            <a:r>
              <a:rPr lang="nl-NL" sz="1400" dirty="0" err="1"/>
              <a:t>Sequential</a:t>
            </a:r>
            <a:r>
              <a:rPr lang="nl-NL" sz="1400" dirty="0"/>
              <a:t> Monte Carlo (</a:t>
            </a:r>
            <a:r>
              <a:rPr lang="nl-NL" sz="1400" dirty="0">
                <a:hlinkClick r:id="rId4"/>
              </a:rPr>
              <a:t>Hinne, 2025, Beh. </a:t>
            </a:r>
            <a:r>
              <a:rPr lang="nl-NL" sz="1400" dirty="0" err="1">
                <a:hlinkClick r:id="rId4"/>
              </a:rPr>
              <a:t>Res</a:t>
            </a:r>
            <a:r>
              <a:rPr lang="nl-NL" sz="1400" dirty="0">
                <a:hlinkClick r:id="rId4"/>
              </a:rPr>
              <a:t>. </a:t>
            </a:r>
            <a:r>
              <a:rPr lang="nl-NL" sz="1400" dirty="0" err="1">
                <a:hlinkClick r:id="rId4"/>
              </a:rPr>
              <a:t>Meth</a:t>
            </a:r>
            <a:r>
              <a:rPr lang="nl-NL" sz="1400" dirty="0">
                <a:hlinkClick r:id="rId4"/>
              </a:rPr>
              <a:t>.</a:t>
            </a:r>
            <a:r>
              <a:rPr lang="nl-NL" sz="1400" dirty="0"/>
              <a:t>)</a:t>
            </a:r>
          </a:p>
          <a:p>
            <a:pPr lvl="1">
              <a:lnSpc>
                <a:spcPct val="110000"/>
              </a:lnSpc>
            </a:pPr>
            <a:r>
              <a:rPr lang="nl-NL" sz="1400" dirty="0"/>
              <a:t>Bridge sampling (Meng &amp; Wong, 1996, Stat. Sin.; </a:t>
            </a:r>
            <a:r>
              <a:rPr lang="nl-NL" sz="1400" dirty="0" err="1"/>
              <a:t>Gronau</a:t>
            </a:r>
            <a:r>
              <a:rPr lang="nl-NL" sz="1400" dirty="0"/>
              <a:t> et al., 2017, J. Math. Psych.)</a:t>
            </a:r>
          </a:p>
          <a:p>
            <a:pPr lvl="1">
              <a:lnSpc>
                <a:spcPct val="110000"/>
              </a:lnSpc>
            </a:pPr>
            <a:r>
              <a:rPr lang="nl-NL" sz="1400" dirty="0"/>
              <a:t>The THAMES </a:t>
            </a:r>
            <a:r>
              <a:rPr lang="nl-NL" sz="1400" dirty="0" err="1"/>
              <a:t>estimator</a:t>
            </a:r>
            <a:r>
              <a:rPr lang="nl-NL" sz="1400" dirty="0"/>
              <a:t> (</a:t>
            </a:r>
            <a:r>
              <a:rPr lang="nl-NL" sz="1400" dirty="0" err="1"/>
              <a:t>Metodiev</a:t>
            </a:r>
            <a:r>
              <a:rPr lang="nl-NL" sz="1400" dirty="0"/>
              <a:t> et al., 2025, Bayes. Ana.)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4613CE5E-4B6A-ED6B-503F-507CDB925E5D}"/>
              </a:ext>
            </a:extLst>
          </p:cNvPr>
          <p:cNvSpPr txBox="1"/>
          <p:nvPr/>
        </p:nvSpPr>
        <p:spPr>
          <a:xfrm>
            <a:off x="9509760" y="6492875"/>
            <a:ext cx="2604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*: posterior model </a:t>
            </a:r>
            <a:r>
              <a:rPr lang="nl-NL" sz="1400" dirty="0" err="1"/>
              <a:t>probabilities</a:t>
            </a:r>
            <a:endParaRPr lang="nl-NL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D4A9D7-5B6E-7280-477D-54EE8666BE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5664" y="26091"/>
            <a:ext cx="2658307" cy="15384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33E3F4-980D-778A-14B7-AF68118272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075" y="4492579"/>
            <a:ext cx="4181652" cy="80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073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F6279A-8A72-9C55-FA99-FD1E293FD6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1945EC5-D9AE-3518-E403-388B5FFC79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10393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31B19-0DF5-125F-CEB6-EF7797C7D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math identities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F238D7-97D6-79EE-52C5-2038122394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/>
                  <a:t>How to get the posterior model probabilities from the Bayes factor: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ℳ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nl-NL" sz="2000" dirty="0"/>
              </a:p>
              <a:p>
                <a:r>
                  <a:rPr lang="nl-NL" sz="2000" dirty="0"/>
                  <a:t>(</a:t>
                </a:r>
                <a:r>
                  <a:rPr lang="nl-NL" sz="2000" dirty="0" err="1"/>
                  <a:t>and</a:t>
                </a:r>
                <a:r>
                  <a:rPr lang="nl-NL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ℳ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ℳ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nl-NL" sz="200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F238D7-97D6-79EE-52C5-2038122394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7007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1120</Words>
  <Application>Microsoft Office PowerPoint</Application>
  <PresentationFormat>Widescreen</PresentationFormat>
  <Paragraphs>130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Wingdings</vt:lpstr>
      <vt:lpstr>Office Theme</vt:lpstr>
      <vt:lpstr>Bayesian model averaging</vt:lpstr>
      <vt:lpstr>The program for today</vt:lpstr>
      <vt:lpstr>Part 1: the conceptual</vt:lpstr>
      <vt:lpstr>What is Bayesian model averaging? (and why do we care?)</vt:lpstr>
      <vt:lpstr>What is Bayesian model averaging? (and why do we care?)</vt:lpstr>
      <vt:lpstr>What is Bayesian model averaging? (and why do we care?)</vt:lpstr>
      <vt:lpstr>What is Bayesian model averaging? (and why do we care?)</vt:lpstr>
      <vt:lpstr>The idea of Bayesian model averaging (BMA)</vt:lpstr>
      <vt:lpstr>The prior/posterior BMA</vt:lpstr>
      <vt:lpstr>Back to the train</vt:lpstr>
      <vt:lpstr>The argument for BMA</vt:lpstr>
      <vt:lpstr>Advantages of model averaging vs selection</vt:lpstr>
      <vt:lpstr>When to (not) use BMA</vt:lpstr>
      <vt:lpstr>A common scenario – inclusion probabilities</vt:lpstr>
      <vt:lpstr>A very simple example</vt:lpstr>
      <vt:lpstr>A very simple example</vt:lpstr>
      <vt:lpstr>A very simple example</vt:lpstr>
      <vt:lpstr>Part II: The pragmatic</vt:lpstr>
      <vt:lpstr>The challenges for BMA</vt:lpstr>
      <vt:lpstr>BMA in Python using JAX &amp; bamojax</vt:lpstr>
      <vt:lpstr>PowerPoint Presentation</vt:lpstr>
      <vt:lpstr>Some math identities</vt:lpstr>
    </vt:vector>
  </TitlesOfParts>
  <Company>Radboud University Nijmegen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Hinne, M. (Max)</dc:creator>
  <cp:lastModifiedBy>Hinne, M. (Max)</cp:lastModifiedBy>
  <cp:revision>12</cp:revision>
  <dcterms:created xsi:type="dcterms:W3CDTF">2026-06-01T13:20:24Z</dcterms:created>
  <dcterms:modified xsi:type="dcterms:W3CDTF">2026-06-11T15:01:34Z</dcterms:modified>
</cp:coreProperties>
</file>